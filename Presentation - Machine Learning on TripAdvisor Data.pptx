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Raleway" pitchFamily="2" charset="0"/>
      <p:regular r:id="rId16"/>
    </p:embeddedFont>
    <p:embeddedFont>
      <p:font typeface="Raleway Bold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1562100"/>
            <a:ext cx="8324850" cy="6838991"/>
            <a:chOff x="0" y="0"/>
            <a:chExt cx="11099800" cy="9118654"/>
          </a:xfrm>
        </p:grpSpPr>
        <p:sp>
          <p:nvSpPr>
            <p:cNvPr id="3" name="TextBox 3"/>
            <p:cNvSpPr txBox="1"/>
            <p:nvPr/>
          </p:nvSpPr>
          <p:spPr>
            <a:xfrm>
              <a:off x="0" y="190500"/>
              <a:ext cx="11099800" cy="74904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800"/>
                </a:lnSpc>
              </a:pPr>
              <a:r>
                <a:rPr lang="en-US" sz="108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Machine Learning on TripAdvisor Data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7731179"/>
              <a:ext cx="11099800" cy="13874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Presented by Orit Padawer, Future Data Scientist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296400" y="9261475"/>
            <a:ext cx="688657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00"/>
              </a:lnSpc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November 12, 2025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66750" y="666750"/>
            <a:ext cx="7191375" cy="8953500"/>
            <a:chOff x="0" y="0"/>
            <a:chExt cx="1036915" cy="129099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9296400" y="666750"/>
            <a:ext cx="5489342" cy="445682"/>
            <a:chOff x="0" y="0"/>
            <a:chExt cx="7319123" cy="594243"/>
          </a:xfrm>
        </p:grpSpPr>
        <p:sp>
          <p:nvSpPr>
            <p:cNvPr id="9" name="TextBox 9"/>
            <p:cNvSpPr txBox="1"/>
            <p:nvPr/>
          </p:nvSpPr>
          <p:spPr>
            <a:xfrm>
              <a:off x="956381" y="104226"/>
              <a:ext cx="6362742" cy="490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50"/>
                </a:lnSpc>
              </a:pPr>
              <a:r>
                <a:rPr lang="en-US" sz="25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TripAdvisor Insights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594243" cy="594243"/>
            </a:xfrm>
            <a:custGeom>
              <a:avLst/>
              <a:gdLst/>
              <a:ahLst/>
              <a:cxnLst/>
              <a:rect l="l" t="t" r="r" b="b"/>
              <a:pathLst>
                <a:path w="594243" h="594243">
                  <a:moveTo>
                    <a:pt x="0" y="0"/>
                  </a:moveTo>
                  <a:lnTo>
                    <a:pt x="594243" y="0"/>
                  </a:lnTo>
                  <a:lnTo>
                    <a:pt x="594243" y="594243"/>
                  </a:lnTo>
                  <a:lnTo>
                    <a:pt x="0" y="5942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666750" y="666750"/>
            <a:ext cx="13208441" cy="5771515"/>
            <a:chOff x="0" y="0"/>
            <a:chExt cx="17611255" cy="7695353"/>
          </a:xfrm>
        </p:grpSpPr>
        <p:sp>
          <p:nvSpPr>
            <p:cNvPr id="5" name="TextBox 5"/>
            <p:cNvSpPr txBox="1"/>
            <p:nvPr/>
          </p:nvSpPr>
          <p:spPr>
            <a:xfrm>
              <a:off x="0" y="76200"/>
              <a:ext cx="17611255" cy="3429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Introduction and Dataset Overview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997325"/>
              <a:ext cx="17611255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Analyzing TripAdvisor Ratings for Success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5229225"/>
              <a:ext cx="17611255" cy="24661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- Platform: Tripadvisor – global restaurant    ratings (1–5 scale)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- Goal: Predict restaurant success (avg_rating ≥ 4.5 &amp; higher than mean review count)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- Focus: Italian restaurants only</a:t>
              </a:r>
            </a:p>
            <a:p>
              <a:pPr marL="0" lvl="0" indent="0" algn="l">
                <a:lnSpc>
                  <a:spcPts val="2990"/>
                </a:lnSpc>
              </a:pPr>
              <a:endParaRPr lang="en-US" sz="23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  <a:p>
              <a:pPr marL="0" lvl="0" indent="0" algn="l">
                <a:lnSpc>
                  <a:spcPts val="2990"/>
                </a:lnSpc>
              </a:pPr>
              <a:endParaRPr lang="en-US" sz="23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485343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4785" y="666750"/>
            <a:ext cx="11203365" cy="2001470"/>
            <a:chOff x="0" y="0"/>
            <a:chExt cx="14937820" cy="2668626"/>
          </a:xfrm>
        </p:grpSpPr>
        <p:sp>
          <p:nvSpPr>
            <p:cNvPr id="3" name="TextBox 3"/>
            <p:cNvSpPr txBox="1"/>
            <p:nvPr/>
          </p:nvSpPr>
          <p:spPr>
            <a:xfrm>
              <a:off x="0" y="76200"/>
              <a:ext cx="14937820" cy="175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Full ML Pipeline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992351"/>
              <a:ext cx="14937820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Overview of Presentation Topics and Structure</a:t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71512" y="6886575"/>
            <a:ext cx="2590269" cy="772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</a:pPr>
            <a:r>
              <a:rPr lang="en-US" sz="2199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Data Exploration and Preparation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94990" y="6886575"/>
            <a:ext cx="2617503" cy="772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</a:pPr>
            <a:r>
              <a:rPr lang="en-US" sz="2199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Missings and Outlier Treatment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296400" y="6886575"/>
            <a:ext cx="2571750" cy="1163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</a:pPr>
            <a:r>
              <a:rPr lang="en-US" sz="2199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Feature Engineering and Selection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611225" y="6886575"/>
            <a:ext cx="2571750" cy="772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79"/>
              </a:lnSpc>
            </a:pPr>
            <a:r>
              <a:rPr lang="en-US" sz="2199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Modeling and Results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488928" y="9402749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3</a:t>
            </a:r>
          </a:p>
        </p:txBody>
      </p:sp>
      <p:sp>
        <p:nvSpPr>
          <p:cNvPr id="10" name="AutoShape 10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Freeform 11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62404" y="5469939"/>
            <a:ext cx="1137821" cy="568911"/>
          </a:xfrm>
          <a:custGeom>
            <a:avLst/>
            <a:gdLst/>
            <a:ahLst/>
            <a:cxnLst/>
            <a:rect l="l" t="t" r="r" b="b"/>
            <a:pathLst>
              <a:path w="1137821" h="568911">
                <a:moveTo>
                  <a:pt x="0" y="0"/>
                </a:moveTo>
                <a:lnTo>
                  <a:pt x="1137821" y="0"/>
                </a:lnTo>
                <a:lnTo>
                  <a:pt x="1137821" y="568911"/>
                </a:lnTo>
                <a:lnTo>
                  <a:pt x="0" y="5689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10800000">
            <a:off x="4994990" y="5478820"/>
            <a:ext cx="1120060" cy="560030"/>
          </a:xfrm>
          <a:custGeom>
            <a:avLst/>
            <a:gdLst/>
            <a:ahLst/>
            <a:cxnLst/>
            <a:rect l="l" t="t" r="r" b="b"/>
            <a:pathLst>
              <a:path w="1120060" h="56003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rot="-10800000">
            <a:off x="13611225" y="5478820"/>
            <a:ext cx="1120060" cy="560030"/>
          </a:xfrm>
          <a:custGeom>
            <a:avLst/>
            <a:gdLst/>
            <a:ahLst/>
            <a:cxnLst/>
            <a:rect l="l" t="t" r="r" b="b"/>
            <a:pathLst>
              <a:path w="1120060" h="56003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9296400" y="5478820"/>
            <a:ext cx="1120060" cy="560030"/>
          </a:xfrm>
          <a:custGeom>
            <a:avLst/>
            <a:gdLst/>
            <a:ahLst/>
            <a:cxnLst/>
            <a:rect l="l" t="t" r="r" b="b"/>
            <a:pathLst>
              <a:path w="1120060" h="560030">
                <a:moveTo>
                  <a:pt x="0" y="0"/>
                </a:moveTo>
                <a:lnTo>
                  <a:pt x="1120060" y="0"/>
                </a:lnTo>
                <a:lnTo>
                  <a:pt x="1120060" y="560030"/>
                </a:lnTo>
                <a:lnTo>
                  <a:pt x="0" y="56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5753100" cy="8058150"/>
            <a:chOff x="0" y="0"/>
            <a:chExt cx="876367" cy="122749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76367" cy="1227494"/>
            </a:xfrm>
            <a:custGeom>
              <a:avLst/>
              <a:gdLst/>
              <a:ahLst/>
              <a:cxnLst/>
              <a:rect l="l" t="t" r="r" b="b"/>
              <a:pathLst>
                <a:path w="876367" h="1227494">
                  <a:moveTo>
                    <a:pt x="0" y="0"/>
                  </a:moveTo>
                  <a:lnTo>
                    <a:pt x="876367" y="0"/>
                  </a:lnTo>
                  <a:lnTo>
                    <a:pt x="876367" y="1227494"/>
                  </a:lnTo>
                  <a:lnTo>
                    <a:pt x="0" y="1227494"/>
                  </a:lnTo>
                  <a:close/>
                </a:path>
              </a:pathLst>
            </a:custGeom>
            <a:blipFill>
              <a:blip r:embed="rId2"/>
              <a:stretch>
                <a:fillRect t="-455" b="-455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7772758" y="666750"/>
            <a:ext cx="9725330" cy="7218599"/>
            <a:chOff x="0" y="0"/>
            <a:chExt cx="12967107" cy="9624799"/>
          </a:xfrm>
        </p:grpSpPr>
        <p:sp>
          <p:nvSpPr>
            <p:cNvPr id="5" name="TextBox 5"/>
            <p:cNvSpPr txBox="1"/>
            <p:nvPr/>
          </p:nvSpPr>
          <p:spPr>
            <a:xfrm>
              <a:off x="0" y="76200"/>
              <a:ext cx="12926423" cy="3429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Data Preparation  Steps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127392"/>
              <a:ext cx="12967107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7A6852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Steps for a refined dataset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5911742"/>
              <a:ext cx="12967107" cy="37130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96569" lvl="1" indent="-248284" algn="l">
                <a:lnSpc>
                  <a:spcPts val="3219"/>
                </a:lnSpc>
                <a:buFont typeface="Arial"/>
                <a:buChar char="•"/>
              </a:pPr>
              <a:r>
                <a:rPr lang="en-US" sz="2299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Fi</a:t>
              </a:r>
              <a:r>
                <a:rPr lang="en-US" sz="2299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ltered for Italian restaurants</a:t>
              </a:r>
            </a:p>
            <a:p>
              <a:pPr marL="496569" lvl="1" indent="-248284" algn="l">
                <a:lnSpc>
                  <a:spcPts val="3219"/>
                </a:lnSpc>
                <a:buFont typeface="Arial"/>
                <a:buChar char="•"/>
              </a:pPr>
              <a:r>
                <a:rPr lang="en-US" sz="2299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Cleaned text from punctuation, standardized categories</a:t>
              </a:r>
            </a:p>
            <a:p>
              <a:pPr marL="496569" lvl="1" indent="-248284" algn="l">
                <a:lnSpc>
                  <a:spcPts val="3219"/>
                </a:lnSpc>
                <a:buFont typeface="Arial"/>
                <a:buChar char="•"/>
              </a:pPr>
              <a:r>
                <a:rPr lang="en-US" sz="2299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Reconstructed geographic hierarchy (Region → Province → City)</a:t>
              </a:r>
            </a:p>
            <a:p>
              <a:pPr marL="496569" lvl="1" indent="-248284" algn="l">
                <a:lnSpc>
                  <a:spcPts val="3219"/>
                </a:lnSpc>
                <a:buFont typeface="Arial"/>
                <a:buChar char="•"/>
              </a:pPr>
              <a:r>
                <a:rPr lang="en-US" sz="2299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Turning List columns into features</a:t>
              </a:r>
            </a:p>
            <a:p>
              <a:pPr marL="496569" lvl="1" indent="-248284" algn="l">
                <a:lnSpc>
                  <a:spcPts val="3219"/>
                </a:lnSpc>
                <a:buFont typeface="Arial"/>
                <a:buChar char="•"/>
              </a:pPr>
              <a:r>
                <a:rPr lang="en-US" sz="2299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Created binary target: high-rated (4.5&lt;=)+ larger than mean reviews = success</a:t>
              </a:r>
            </a:p>
            <a:p>
              <a:pPr algn="l">
                <a:lnSpc>
                  <a:spcPts val="3219"/>
                </a:lnSpc>
              </a:pPr>
              <a:endParaRPr lang="en-US" sz="2299" u="none" strike="noStrike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8" name="AutoShape 8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Freeform 9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7359380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666750" y="666750"/>
            <a:ext cx="13208441" cy="6087110"/>
            <a:chOff x="0" y="0"/>
            <a:chExt cx="17611255" cy="8116146"/>
          </a:xfrm>
        </p:grpSpPr>
        <p:sp>
          <p:nvSpPr>
            <p:cNvPr id="5" name="TextBox 5"/>
            <p:cNvSpPr txBox="1"/>
            <p:nvPr/>
          </p:nvSpPr>
          <p:spPr>
            <a:xfrm>
              <a:off x="0" y="76200"/>
              <a:ext cx="17611255" cy="3429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Exploratory Data Analysis (EDA)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997325"/>
              <a:ext cx="17611255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Analyzing TripAdvisor Ratings for Success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5229225"/>
              <a:ext cx="17611255" cy="28869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60"/>
                </a:lnSpc>
              </a:pPr>
              <a:r>
                <a:rPr lang="en-US" sz="22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•Ratings features (food, service, value) leak target → excluded</a:t>
              </a:r>
            </a:p>
            <a:p>
              <a:pPr algn="l">
                <a:lnSpc>
                  <a:spcPts val="2860"/>
                </a:lnSpc>
              </a:pPr>
              <a:r>
                <a:rPr lang="en-US" sz="22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•Central Italy shows higher success rates</a:t>
              </a:r>
            </a:p>
            <a:p>
              <a:pPr algn="l">
                <a:lnSpc>
                  <a:spcPts val="2860"/>
                </a:lnSpc>
              </a:pPr>
              <a:r>
                <a:rPr lang="en-US" sz="22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•English-language visibility correlates with high ratings</a:t>
              </a:r>
            </a:p>
            <a:p>
              <a:pPr algn="l">
                <a:lnSpc>
                  <a:spcPts val="2860"/>
                </a:lnSpc>
              </a:pPr>
              <a:r>
                <a:rPr lang="en-US" sz="22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•Numeric features (e.g. max_price) are highly skewed</a:t>
              </a:r>
            </a:p>
            <a:p>
              <a:pPr marL="0" lvl="0" indent="0" algn="l">
                <a:lnSpc>
                  <a:spcPts val="2860"/>
                </a:lnSpc>
              </a:pPr>
              <a:endParaRPr lang="en-US" sz="22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  <a:p>
              <a:pPr marL="0" lvl="0" indent="0" algn="l">
                <a:lnSpc>
                  <a:spcPts val="2860"/>
                </a:lnSpc>
              </a:pPr>
              <a:endParaRPr lang="en-US" sz="22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485343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5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590221" y="2436291"/>
            <a:ext cx="7669079" cy="5414417"/>
            <a:chOff x="0" y="0"/>
            <a:chExt cx="1014975" cy="71657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14975" cy="716579"/>
            </a:xfrm>
            <a:custGeom>
              <a:avLst/>
              <a:gdLst/>
              <a:ahLst/>
              <a:cxnLst/>
              <a:rect l="l" t="t" r="r" b="b"/>
              <a:pathLst>
                <a:path w="1014975" h="716579">
                  <a:moveTo>
                    <a:pt x="0" y="0"/>
                  </a:moveTo>
                  <a:lnTo>
                    <a:pt x="1014975" y="0"/>
                  </a:lnTo>
                  <a:lnTo>
                    <a:pt x="1014975" y="716579"/>
                  </a:lnTo>
                  <a:lnTo>
                    <a:pt x="0" y="716579"/>
                  </a:lnTo>
                  <a:close/>
                </a:path>
              </a:pathLst>
            </a:custGeom>
            <a:blipFill>
              <a:blip r:embed="rId4"/>
              <a:stretch>
                <a:fillRect t="-5626" b="-5626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1431704" y="6533697"/>
            <a:ext cx="6424123" cy="2634024"/>
            <a:chOff x="0" y="0"/>
            <a:chExt cx="1139688" cy="4672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39688" cy="467296"/>
            </a:xfrm>
            <a:custGeom>
              <a:avLst/>
              <a:gdLst/>
              <a:ahLst/>
              <a:cxnLst/>
              <a:rect l="l" t="t" r="r" b="b"/>
              <a:pathLst>
                <a:path w="1139688" h="467296">
                  <a:moveTo>
                    <a:pt x="0" y="0"/>
                  </a:moveTo>
                  <a:lnTo>
                    <a:pt x="1139688" y="0"/>
                  </a:lnTo>
                  <a:lnTo>
                    <a:pt x="1139688" y="467296"/>
                  </a:lnTo>
                  <a:lnTo>
                    <a:pt x="0" y="467296"/>
                  </a:lnTo>
                  <a:close/>
                </a:path>
              </a:pathLst>
            </a:custGeom>
            <a:blipFill>
              <a:blip r:embed="rId5"/>
              <a:stretch>
                <a:fillRect t="-17624" b="-17624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144000" y="2959141"/>
            <a:ext cx="7877319" cy="3432769"/>
          </a:xfrm>
          <a:custGeom>
            <a:avLst/>
            <a:gdLst/>
            <a:ahLst/>
            <a:cxnLst/>
            <a:rect l="l" t="t" r="r" b="b"/>
            <a:pathLst>
              <a:path w="7877319" h="3432769">
                <a:moveTo>
                  <a:pt x="0" y="0"/>
                </a:moveTo>
                <a:lnTo>
                  <a:pt x="7877319" y="0"/>
                </a:lnTo>
                <a:lnTo>
                  <a:pt x="7877319" y="3432769"/>
                </a:lnTo>
                <a:lnTo>
                  <a:pt x="0" y="34327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932"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666750" y="666750"/>
            <a:ext cx="13208441" cy="5771515"/>
            <a:chOff x="0" y="0"/>
            <a:chExt cx="17611255" cy="7695353"/>
          </a:xfrm>
        </p:grpSpPr>
        <p:sp>
          <p:nvSpPr>
            <p:cNvPr id="6" name="TextBox 6"/>
            <p:cNvSpPr txBox="1"/>
            <p:nvPr/>
          </p:nvSpPr>
          <p:spPr>
            <a:xfrm>
              <a:off x="0" y="76200"/>
              <a:ext cx="17611255" cy="3429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Data Imputation &amp; Outlier Control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997325"/>
              <a:ext cx="17611255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Analyzing TripAdvisor Ratings for Success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5229225"/>
              <a:ext cx="17611255" cy="24661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•KNN imputation for operational metrics</a:t>
              </a:r>
            </a:p>
            <a:p>
              <a:pPr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•City/province medians for missing coordinates</a:t>
              </a:r>
            </a:p>
            <a:p>
              <a:pPr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•IQR capping (1.5× rule) for numeric outliers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•Result: complete, stable, and consistent dataset</a:t>
              </a:r>
            </a:p>
            <a:p>
              <a:pPr marL="0" lvl="0" indent="0" algn="l">
                <a:lnSpc>
                  <a:spcPts val="2990"/>
                </a:lnSpc>
              </a:pPr>
              <a:endParaRPr lang="en-US" sz="23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485343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2105025" y="704850"/>
            <a:ext cx="14077950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225"/>
              </a:lnSpc>
            </a:pPr>
            <a:r>
              <a:rPr lang="en-US" sz="4750" u="none" strike="noStrike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Feature Engineering and Data Splitting Techniques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105025" y="5453722"/>
            <a:ext cx="5448300" cy="2536512"/>
            <a:chOff x="0" y="0"/>
            <a:chExt cx="7264400" cy="3382016"/>
          </a:xfrm>
        </p:grpSpPr>
        <p:sp>
          <p:nvSpPr>
            <p:cNvPr id="5" name="TextBox 5"/>
            <p:cNvSpPr txBox="1"/>
            <p:nvPr/>
          </p:nvSpPr>
          <p:spPr>
            <a:xfrm>
              <a:off x="0" y="19050"/>
              <a:ext cx="7264400" cy="590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00"/>
                </a:lnSpc>
              </a:pPr>
              <a:r>
                <a:rPr lang="en-US" sz="3000" b="1" u="none" strike="noStrike">
                  <a:solidFill>
                    <a:srgbClr val="7A6852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Engineering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805398"/>
              <a:ext cx="7264400" cy="2576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080"/>
                </a:lnSpc>
              </a:pPr>
              <a:r>
                <a:rPr lang="en-US" sz="22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This phase involved c</a:t>
              </a:r>
              <a:r>
                <a:rPr lang="en-US" sz="2200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reating new variables based on spatial location and business attributes, such as distance to city center, area popularity, and restaurant chain status for better predictive analysis.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733423" y="5453722"/>
            <a:ext cx="5448300" cy="974412"/>
            <a:chOff x="0" y="0"/>
            <a:chExt cx="7264400" cy="1299216"/>
          </a:xfrm>
        </p:grpSpPr>
        <p:sp>
          <p:nvSpPr>
            <p:cNvPr id="8" name="TextBox 8"/>
            <p:cNvSpPr txBox="1"/>
            <p:nvPr/>
          </p:nvSpPr>
          <p:spPr>
            <a:xfrm>
              <a:off x="0" y="19050"/>
              <a:ext cx="7264400" cy="590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00"/>
                </a:lnSpc>
              </a:pPr>
              <a:r>
                <a:rPr lang="en-US" sz="3000" b="1" u="none" strike="noStrike">
                  <a:solidFill>
                    <a:srgbClr val="7A6852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Splitting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805398"/>
              <a:ext cx="7264400" cy="4938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080"/>
                </a:lnSpc>
              </a:pPr>
              <a:r>
                <a:rPr lang="en-US" sz="2200" u="none" strike="noStrike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Dividing data into training and testing sets.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7359380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7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66750" y="2457450"/>
            <a:ext cx="8477250" cy="2686050"/>
            <a:chOff x="0" y="0"/>
            <a:chExt cx="1137409" cy="36039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37409" cy="360392"/>
            </a:xfrm>
            <a:custGeom>
              <a:avLst/>
              <a:gdLst/>
              <a:ahLst/>
              <a:cxnLst/>
              <a:rect l="l" t="t" r="r" b="b"/>
              <a:pathLst>
                <a:path w="1137409" h="360392">
                  <a:moveTo>
                    <a:pt x="0" y="0"/>
                  </a:moveTo>
                  <a:lnTo>
                    <a:pt x="1137409" y="0"/>
                  </a:lnTo>
                  <a:lnTo>
                    <a:pt x="1137409" y="360392"/>
                  </a:lnTo>
                  <a:lnTo>
                    <a:pt x="0" y="360392"/>
                  </a:lnTo>
                  <a:close/>
                </a:path>
              </a:pathLst>
            </a:custGeom>
            <a:blipFill>
              <a:blip r:embed="rId4"/>
              <a:stretch>
                <a:fillRect t="-34621" b="-34621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9296400" y="2457450"/>
            <a:ext cx="8322347" cy="2686050"/>
            <a:chOff x="0" y="0"/>
            <a:chExt cx="1116625" cy="36039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16625" cy="360392"/>
            </a:xfrm>
            <a:custGeom>
              <a:avLst/>
              <a:gdLst/>
              <a:ahLst/>
              <a:cxnLst/>
              <a:rect l="l" t="t" r="r" b="b"/>
              <a:pathLst>
                <a:path w="1116625" h="360392">
                  <a:moveTo>
                    <a:pt x="0" y="0"/>
                  </a:moveTo>
                  <a:lnTo>
                    <a:pt x="1116625" y="0"/>
                  </a:lnTo>
                  <a:lnTo>
                    <a:pt x="1116625" y="360392"/>
                  </a:lnTo>
                  <a:lnTo>
                    <a:pt x="0" y="360392"/>
                  </a:lnTo>
                  <a:close/>
                </a:path>
              </a:pathLst>
            </a:custGeom>
            <a:blipFill>
              <a:blip r:embed="rId5"/>
              <a:stretch>
                <a:fillRect t="-33074" b="-33074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666750" y="666750"/>
            <a:ext cx="13208441" cy="5771515"/>
            <a:chOff x="0" y="0"/>
            <a:chExt cx="17611255" cy="7695353"/>
          </a:xfrm>
        </p:grpSpPr>
        <p:sp>
          <p:nvSpPr>
            <p:cNvPr id="5" name="TextBox 5"/>
            <p:cNvSpPr txBox="1"/>
            <p:nvPr/>
          </p:nvSpPr>
          <p:spPr>
            <a:xfrm>
              <a:off x="0" y="76200"/>
              <a:ext cx="17611255" cy="3429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Modeling &amp; Feature Selection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997325"/>
              <a:ext cx="17611255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Evaluating Models for Restaurant Success Prediction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5229225"/>
              <a:ext cx="17611255" cy="24661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•Pipeline: Preprocessing → VarianceThreshold → SelectKBest → SMOTE → Classifier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•Models tested: Logistic Regression, Random Forest, XGB, LinearSVM, Decision Tree, AdaBoost, GBM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•Evaluation: ROC-AUC, F1, Precision, Recall, Accuracy, Log Loss</a:t>
              </a:r>
            </a:p>
            <a:p>
              <a:pPr marL="0" lvl="0" indent="0" algn="l">
                <a:lnSpc>
                  <a:spcPts val="2990"/>
                </a:lnSpc>
              </a:pPr>
              <a:endParaRPr lang="en-US" sz="23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485343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31704" y="9610725"/>
            <a:ext cx="15624461" cy="0"/>
          </a:xfrm>
          <a:prstGeom prst="line">
            <a:avLst/>
          </a:prstGeom>
          <a:ln w="19050" cap="flat">
            <a:solidFill>
              <a:srgbClr val="3E3126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1512" y="9387884"/>
            <a:ext cx="445682" cy="445682"/>
          </a:xfrm>
          <a:custGeom>
            <a:avLst/>
            <a:gdLst/>
            <a:ahLst/>
            <a:cxnLst/>
            <a:rect l="l" t="t" r="r" b="b"/>
            <a:pathLst>
              <a:path w="445682" h="445682">
                <a:moveTo>
                  <a:pt x="0" y="0"/>
                </a:moveTo>
                <a:lnTo>
                  <a:pt x="445683" y="0"/>
                </a:lnTo>
                <a:lnTo>
                  <a:pt x="445683" y="445682"/>
                </a:lnTo>
                <a:lnTo>
                  <a:pt x="0" y="4456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66750" y="7174474"/>
            <a:ext cx="6671251" cy="2176496"/>
          </a:xfrm>
          <a:custGeom>
            <a:avLst/>
            <a:gdLst/>
            <a:ahLst/>
            <a:cxnLst/>
            <a:rect l="l" t="t" r="r" b="b"/>
            <a:pathLst>
              <a:path w="6671251" h="2176496">
                <a:moveTo>
                  <a:pt x="0" y="0"/>
                </a:moveTo>
                <a:lnTo>
                  <a:pt x="6671251" y="0"/>
                </a:lnTo>
                <a:lnTo>
                  <a:pt x="6671251" y="2176496"/>
                </a:lnTo>
                <a:lnTo>
                  <a:pt x="0" y="21764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666750" y="723900"/>
            <a:ext cx="13208441" cy="7583190"/>
            <a:chOff x="0" y="76200"/>
            <a:chExt cx="17611255" cy="10110919"/>
          </a:xfrm>
        </p:grpSpPr>
        <p:sp>
          <p:nvSpPr>
            <p:cNvPr id="7" name="TextBox 7"/>
            <p:cNvSpPr txBox="1"/>
            <p:nvPr/>
          </p:nvSpPr>
          <p:spPr>
            <a:xfrm>
              <a:off x="0" y="76200"/>
              <a:ext cx="17611255" cy="175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00"/>
                </a:lnSpc>
              </a:pPr>
              <a:r>
                <a:rPr lang="en-US" sz="90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Results &amp; Key Insights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320925"/>
              <a:ext cx="17611255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>
                  <a:solidFill>
                    <a:srgbClr val="7A6852"/>
                  </a:solidFill>
                  <a:latin typeface="Raleway"/>
                  <a:ea typeface="Raleway"/>
                  <a:cs typeface="Raleway"/>
                  <a:sym typeface="Raleway"/>
                </a:rPr>
                <a:t>Insights on Success Factors in Italy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3552825"/>
              <a:ext cx="17611255" cy="66342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•Top drivers of success: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sym typeface="Raleway"/>
                </a:rPr>
                <a:t>• </a:t>
              </a:r>
              <a:r>
                <a:rPr lang="en-IL" sz="2300" dirty="0">
                  <a:solidFill>
                    <a:srgbClr val="3E3126"/>
                  </a:solidFill>
                  <a:latin typeface="Raleway"/>
                </a:rPr>
                <a:t>restaurant reputation metrics</a:t>
              </a:r>
              <a:endParaRPr lang="en-US" sz="2300" dirty="0">
                <a:solidFill>
                  <a:srgbClr val="3E3126"/>
                </a:solidFill>
                <a:latin typeface="Raleway"/>
              </a:endParaRP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English-language visibility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Inclusivity (vegan, gluten-free, vegetarian)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Michelin prestige &amp; winning awards</a:t>
              </a:r>
            </a:p>
            <a:p>
              <a:pPr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Central location &amp; dense areas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</a:t>
              </a:r>
              <a:r>
                <a:rPr lang="en-US" sz="2300" dirty="0" err="1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XGBoost</a:t>
              </a: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 was top performer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• Final results after Tuning: 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Accuracy: 0.9483, Precision: 0.7107, Recall: 0.6811,  F1: 0.6956,</a:t>
              </a:r>
            </a:p>
            <a:p>
              <a:pPr marL="0" lvl="0" indent="0" algn="l">
                <a:lnSpc>
                  <a:spcPts val="2990"/>
                </a:lnSpc>
              </a:pPr>
              <a:r>
                <a:rPr lang="en-US" sz="2300" dirty="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ROC AUC: 0.972</a:t>
              </a:r>
            </a:p>
            <a:p>
              <a:pPr marL="0" lvl="0" indent="0" algn="l">
                <a:lnSpc>
                  <a:spcPts val="2990"/>
                </a:lnSpc>
              </a:pPr>
              <a:endParaRPr lang="en-US" sz="2300" dirty="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  <a:p>
              <a:pPr marL="0" lvl="0" indent="0" algn="l">
                <a:lnSpc>
                  <a:spcPts val="2990"/>
                </a:lnSpc>
              </a:pPr>
              <a:endParaRPr lang="en-US" sz="2300" dirty="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  <a:p>
              <a:pPr marL="0" lvl="0" indent="0" algn="l">
                <a:lnSpc>
                  <a:spcPts val="2990"/>
                </a:lnSpc>
              </a:pPr>
              <a:endParaRPr lang="en-US" sz="2300" dirty="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485343" y="9412274"/>
            <a:ext cx="152400" cy="2095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0" lvl="0" indent="0"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9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4E4137-550D-40AB-8DE0-6BD6F09AC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4285401"/>
            <a:ext cx="7162800" cy="49728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1638300"/>
            <a:ext cx="7191375" cy="381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900"/>
              </a:lnSpc>
            </a:pPr>
            <a:r>
              <a:rPr lang="en-US" sz="9000" u="none" strike="noStrike">
                <a:solidFill>
                  <a:srgbClr val="3E3126"/>
                </a:solidFill>
                <a:latin typeface="Raleway"/>
                <a:ea typeface="Raleway"/>
                <a:cs typeface="Raleway"/>
                <a:sym typeface="Raleway"/>
              </a:rPr>
              <a:t>Thank you for your attention!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6750" y="9174568"/>
            <a:ext cx="5484580" cy="445682"/>
            <a:chOff x="0" y="0"/>
            <a:chExt cx="7312773" cy="594243"/>
          </a:xfrm>
        </p:grpSpPr>
        <p:sp>
          <p:nvSpPr>
            <p:cNvPr id="4" name="TextBox 4"/>
            <p:cNvSpPr txBox="1"/>
            <p:nvPr/>
          </p:nvSpPr>
          <p:spPr>
            <a:xfrm>
              <a:off x="950031" y="56880"/>
              <a:ext cx="6362742" cy="4900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50"/>
                </a:lnSpc>
              </a:pPr>
              <a:r>
                <a:rPr lang="en-US" sz="2500">
                  <a:solidFill>
                    <a:srgbClr val="3E3126"/>
                  </a:solidFill>
                  <a:latin typeface="Raleway"/>
                  <a:ea typeface="Raleway"/>
                  <a:cs typeface="Raleway"/>
                  <a:sym typeface="Raleway"/>
                </a:rPr>
                <a:t>Data Insights Co.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594243" cy="594243"/>
            </a:xfrm>
            <a:custGeom>
              <a:avLst/>
              <a:gdLst/>
              <a:ahLst/>
              <a:cxnLst/>
              <a:rect l="l" t="t" r="r" b="b"/>
              <a:pathLst>
                <a:path w="594243" h="594243">
                  <a:moveTo>
                    <a:pt x="0" y="0"/>
                  </a:moveTo>
                  <a:lnTo>
                    <a:pt x="594243" y="0"/>
                  </a:lnTo>
                  <a:lnTo>
                    <a:pt x="594243" y="594243"/>
                  </a:lnTo>
                  <a:lnTo>
                    <a:pt x="0" y="5942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646914" y="1562100"/>
            <a:ext cx="8316542" cy="6864190"/>
            <a:chOff x="0" y="0"/>
            <a:chExt cx="1292115" cy="10664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92115" cy="1066467"/>
            </a:xfrm>
            <a:custGeom>
              <a:avLst/>
              <a:gdLst/>
              <a:ahLst/>
              <a:cxnLst/>
              <a:rect l="l" t="t" r="r" b="b"/>
              <a:pathLst>
                <a:path w="1292115" h="1066467">
                  <a:moveTo>
                    <a:pt x="0" y="0"/>
                  </a:moveTo>
                  <a:lnTo>
                    <a:pt x="1292115" y="0"/>
                  </a:lnTo>
                  <a:lnTo>
                    <a:pt x="1292115" y="1066467"/>
                  </a:lnTo>
                  <a:lnTo>
                    <a:pt x="0" y="1066467"/>
                  </a:lnTo>
                  <a:close/>
                </a:path>
              </a:pathLst>
            </a:custGeom>
            <a:blipFill>
              <a:blip r:embed="rId4"/>
              <a:stretch>
                <a:fillRect l="-174" r="-174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436</Words>
  <Application>Microsoft Office PowerPoint</Application>
  <PresentationFormat>Custom</PresentationFormat>
  <Paragraphs>67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Raleway Bold</vt:lpstr>
      <vt:lpstr>Arial</vt:lpstr>
      <vt:lpstr>Raleway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Machine Learning on TripAdvisor Data</dc:title>
  <dc:description>Presentation - Machine Learning on TripAdvisor Data</dc:description>
  <cp:lastModifiedBy>Orit  Padawer</cp:lastModifiedBy>
  <cp:revision>3</cp:revision>
  <dcterms:created xsi:type="dcterms:W3CDTF">2006-08-16T00:00:00Z</dcterms:created>
  <dcterms:modified xsi:type="dcterms:W3CDTF">2025-11-12T07:04:02Z</dcterms:modified>
  <dc:identifier>DAG4VQ26s_w</dc:identifier>
</cp:coreProperties>
</file>