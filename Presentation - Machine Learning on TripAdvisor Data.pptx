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Raleway" charset="1" panose="00000000000000000000"/>
      <p:regular r:id="rId16"/>
    </p:embeddedFont>
    <p:embeddedFont>
      <p:font typeface="Raleway Bold" charset="1" panose="000000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10.jpeg" Type="http://schemas.openxmlformats.org/officeDocument/2006/relationships/image"/><Relationship Id="rId5" Target="../media/image1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12.png" Type="http://schemas.openxmlformats.org/officeDocument/2006/relationships/image"/><Relationship Id="rId5" Target="../media/image1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14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6400" y="1562100"/>
            <a:ext cx="8324850" cy="6838991"/>
            <a:chOff x="0" y="0"/>
            <a:chExt cx="11099800" cy="9118654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190500"/>
              <a:ext cx="11099800" cy="749046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0800"/>
                </a:lnSpc>
              </a:pPr>
              <a:r>
                <a:rPr lang="en-US" sz="10800">
                  <a:solidFill>
                    <a:srgbClr val="3E3126"/>
                  </a:solidFill>
                  <a:latin typeface="Raleway"/>
                  <a:ea typeface="Raleway"/>
                  <a:cs typeface="Raleway"/>
                  <a:sym typeface="Raleway"/>
                </a:rPr>
                <a:t>Machine Learning on TripAdvisor Data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7731179"/>
              <a:ext cx="11099800" cy="13874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200"/>
                </a:lnSpc>
              </a:pPr>
              <a:r>
                <a:rPr lang="en-US" sz="3000">
                  <a:solidFill>
                    <a:srgbClr val="7A6852"/>
                  </a:solidFill>
                  <a:latin typeface="Raleway"/>
                  <a:ea typeface="Raleway"/>
                  <a:cs typeface="Raleway"/>
                  <a:sym typeface="Raleway"/>
                </a:rPr>
                <a:t>Presented by Orit Padawer, Future Data Scientist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296400" y="9261475"/>
            <a:ext cx="6886575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</a:pPr>
            <a:r>
              <a:rPr lang="en-US" sz="2000">
                <a:solidFill>
                  <a:srgbClr val="3E3126"/>
                </a:solidFill>
                <a:latin typeface="Raleway"/>
                <a:ea typeface="Raleway"/>
                <a:cs typeface="Raleway"/>
                <a:sym typeface="Raleway"/>
              </a:rPr>
              <a:t>November 12, 2025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66750" y="666750"/>
            <a:ext cx="7191375" cy="8953500"/>
            <a:chOff x="0" y="0"/>
            <a:chExt cx="1036915" cy="129099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36915" cy="1290994"/>
            </a:xfrm>
            <a:custGeom>
              <a:avLst/>
              <a:gdLst/>
              <a:ahLst/>
              <a:cxnLst/>
              <a:rect r="r" b="b" t="t" l="l"/>
              <a:pathLst>
                <a:path h="1290994" w="1036915">
                  <a:moveTo>
                    <a:pt x="0" y="0"/>
                  </a:moveTo>
                  <a:lnTo>
                    <a:pt x="1036915" y="0"/>
                  </a:lnTo>
                  <a:lnTo>
                    <a:pt x="1036915" y="1290994"/>
                  </a:lnTo>
                  <a:lnTo>
                    <a:pt x="0" y="1290994"/>
                  </a:lnTo>
                  <a:close/>
                </a:path>
              </a:pathLst>
            </a:custGeom>
            <a:blipFill>
              <a:blip r:embed="rId2"/>
              <a:stretch>
                <a:fillRect l="0" t="-199" r="0" b="-199"/>
              </a:stretch>
            </a:blip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9296400" y="666750"/>
            <a:ext cx="5489342" cy="445682"/>
            <a:chOff x="0" y="0"/>
            <a:chExt cx="7319123" cy="594243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956381" y="104226"/>
              <a:ext cx="6362742" cy="4900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750"/>
                </a:lnSpc>
              </a:pPr>
              <a:r>
                <a:rPr lang="en-US" sz="2500">
                  <a:solidFill>
                    <a:srgbClr val="3E3126"/>
                  </a:solidFill>
                  <a:latin typeface="Raleway"/>
                  <a:ea typeface="Raleway"/>
                  <a:cs typeface="Raleway"/>
                  <a:sym typeface="Raleway"/>
                </a:rPr>
                <a:t>TripAdvisor Insights</a:t>
              </a:r>
            </a:p>
          </p:txBody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94243" cy="594243"/>
            </a:xfrm>
            <a:custGeom>
              <a:avLst/>
              <a:gdLst/>
              <a:ahLst/>
              <a:cxnLst/>
              <a:rect r="r" b="b" t="t" l="l"/>
              <a:pathLst>
                <a:path h="594243" w="594243">
                  <a:moveTo>
                    <a:pt x="0" y="0"/>
                  </a:moveTo>
                  <a:lnTo>
                    <a:pt x="594243" y="0"/>
                  </a:lnTo>
                  <a:lnTo>
                    <a:pt x="594243" y="594243"/>
                  </a:lnTo>
                  <a:lnTo>
                    <a:pt x="0" y="5942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431704" y="9610725"/>
            <a:ext cx="15624461" cy="0"/>
          </a:xfrm>
          <a:prstGeom prst="line">
            <a:avLst/>
          </a:prstGeom>
          <a:ln cap="flat" w="19050">
            <a:solidFill>
              <a:srgbClr val="3E312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671512" y="9387884"/>
            <a:ext cx="445682" cy="445682"/>
          </a:xfrm>
          <a:custGeom>
            <a:avLst/>
            <a:gdLst/>
            <a:ahLst/>
            <a:cxnLst/>
            <a:rect r="r" b="b" t="t" l="l"/>
            <a:pathLst>
              <a:path h="445682" w="445682">
                <a:moveTo>
                  <a:pt x="0" y="0"/>
                </a:moveTo>
                <a:lnTo>
                  <a:pt x="445683" y="0"/>
                </a:lnTo>
                <a:lnTo>
                  <a:pt x="445683" y="445682"/>
                </a:lnTo>
                <a:lnTo>
                  <a:pt x="0" y="4456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666750" y="666750"/>
            <a:ext cx="13208441" cy="5771515"/>
            <a:chOff x="0" y="0"/>
            <a:chExt cx="17611255" cy="7695353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76200"/>
              <a:ext cx="17611255" cy="3429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900"/>
                </a:lnSpc>
              </a:pPr>
              <a:r>
                <a:rPr lang="en-US" sz="9000">
                  <a:solidFill>
                    <a:srgbClr val="3E3126"/>
                  </a:solidFill>
                  <a:latin typeface="Raleway"/>
                  <a:ea typeface="Raleway"/>
                  <a:cs typeface="Raleway"/>
                  <a:sym typeface="Raleway"/>
                </a:rPr>
                <a:t>Introduction and Dataset Overview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3997325"/>
              <a:ext cx="17611255" cy="6762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200"/>
                </a:lnSpc>
              </a:pPr>
              <a:r>
                <a:rPr lang="en-US" sz="3000">
                  <a:solidFill>
                    <a:srgbClr val="7A6852"/>
                  </a:solidFill>
                  <a:latin typeface="Raleway"/>
                  <a:ea typeface="Raleway"/>
                  <a:cs typeface="Raleway"/>
                  <a:sym typeface="Raleway"/>
                </a:rPr>
                <a:t>Analyzing TripAdvisor Ratings for Success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5229225"/>
              <a:ext cx="17611255" cy="24661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0"/>
                </a:lnSpc>
              </a:pPr>
              <a:r>
                <a:rPr lang="en-US" sz="2300">
                  <a:solidFill>
                    <a:srgbClr val="3E3126"/>
                  </a:solidFill>
                  <a:latin typeface="Raleway"/>
                  <a:ea typeface="Raleway"/>
                  <a:cs typeface="Raleway"/>
                  <a:sym typeface="Raleway"/>
                </a:rPr>
                <a:t>- Platform: Tripadvisor – global restaurant    ratings (1–5 scale)</a:t>
              </a:r>
            </a:p>
            <a:p>
              <a:pPr algn="l" marL="0" indent="0" lvl="0">
                <a:lnSpc>
                  <a:spcPts val="2990"/>
                </a:lnSpc>
              </a:pPr>
              <a:r>
                <a:rPr lang="en-US" sz="2300">
                  <a:solidFill>
                    <a:srgbClr val="3E3126"/>
                  </a:solidFill>
                  <a:latin typeface="Raleway"/>
                  <a:ea typeface="Raleway"/>
                  <a:cs typeface="Raleway"/>
                  <a:sym typeface="Raleway"/>
                </a:rPr>
                <a:t>- Goal: Predict restaurant success (avg_rating ≥ 4.5 &amp; higher than mean review count)</a:t>
              </a:r>
            </a:p>
            <a:p>
              <a:pPr algn="l" marL="0" indent="0" lvl="0">
                <a:lnSpc>
                  <a:spcPts val="2990"/>
                </a:lnSpc>
              </a:pPr>
              <a:r>
                <a:rPr lang="en-US" sz="2300">
                  <a:solidFill>
                    <a:srgbClr val="3E3126"/>
                  </a:solidFill>
                  <a:latin typeface="Raleway"/>
                  <a:ea typeface="Raleway"/>
                  <a:cs typeface="Raleway"/>
                  <a:sym typeface="Raleway"/>
                </a:rPr>
                <a:t>- Focus: Italian restaurants only</a:t>
              </a:r>
            </a:p>
            <a:p>
              <a:pPr algn="l" marL="0" indent="0" lvl="0">
                <a:lnSpc>
                  <a:spcPts val="2990"/>
                </a:lnSpc>
              </a:pPr>
            </a:p>
            <a:p>
              <a:pPr algn="l" marL="0" indent="0" lvl="0">
                <a:lnSpc>
                  <a:spcPts val="2990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7485343" y="9412274"/>
            <a:ext cx="152400" cy="2095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r" marL="0" indent="0" lvl="0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E3126"/>
                </a:solidFill>
                <a:latin typeface="Raleway"/>
                <a:ea typeface="Raleway"/>
                <a:cs typeface="Raleway"/>
                <a:sym typeface="Raleway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9D3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4785" y="666750"/>
            <a:ext cx="11203365" cy="2001470"/>
            <a:chOff x="0" y="0"/>
            <a:chExt cx="14937820" cy="2668626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76200"/>
              <a:ext cx="14937820" cy="1752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900"/>
                </a:lnSpc>
              </a:pPr>
              <a:r>
                <a:rPr lang="en-US" sz="9000">
                  <a:solidFill>
                    <a:srgbClr val="3E3126"/>
                  </a:solidFill>
                  <a:latin typeface="Raleway"/>
                  <a:ea typeface="Raleway"/>
                  <a:cs typeface="Raleway"/>
                  <a:sym typeface="Raleway"/>
                </a:rPr>
                <a:t>Full ML Pipeline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1992351"/>
              <a:ext cx="14937820" cy="6762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200"/>
                </a:lnSpc>
              </a:pPr>
              <a:r>
                <a:rPr lang="en-US" sz="3000">
                  <a:solidFill>
                    <a:srgbClr val="7A6852"/>
                  </a:solidFill>
                  <a:latin typeface="Raleway"/>
                  <a:ea typeface="Raleway"/>
                  <a:cs typeface="Raleway"/>
                  <a:sym typeface="Raleway"/>
                </a:rPr>
                <a:t>Overview of Presentation Topics and Structure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671512" y="6886575"/>
            <a:ext cx="2590269" cy="772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9"/>
              </a:lnSpc>
            </a:pPr>
            <a:r>
              <a:rPr lang="en-US" sz="2199">
                <a:solidFill>
                  <a:srgbClr val="3E3126"/>
                </a:solidFill>
                <a:latin typeface="Raleway"/>
                <a:ea typeface="Raleway"/>
                <a:cs typeface="Raleway"/>
                <a:sym typeface="Raleway"/>
              </a:rPr>
              <a:t>Da</a:t>
            </a:r>
            <a:r>
              <a:rPr lang="en-US" sz="2199">
                <a:solidFill>
                  <a:srgbClr val="3E3126"/>
                </a:solidFill>
                <a:latin typeface="Raleway"/>
                <a:ea typeface="Raleway"/>
                <a:cs typeface="Raleway"/>
                <a:sym typeface="Raleway"/>
              </a:rPr>
              <a:t>ta Exploration and Preparation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994990" y="6886575"/>
            <a:ext cx="2617503" cy="772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9"/>
              </a:lnSpc>
            </a:pPr>
            <a:r>
              <a:rPr lang="en-US" sz="2199">
                <a:solidFill>
                  <a:srgbClr val="3E3126"/>
                </a:solidFill>
                <a:latin typeface="Raleway"/>
                <a:ea typeface="Raleway"/>
                <a:cs typeface="Raleway"/>
                <a:sym typeface="Raleway"/>
              </a:rPr>
              <a:t>Missings and Outlier Treatment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296400" y="6886575"/>
            <a:ext cx="2571750" cy="1163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9"/>
              </a:lnSpc>
            </a:pPr>
            <a:r>
              <a:rPr lang="en-US" sz="2199">
                <a:solidFill>
                  <a:srgbClr val="3E3126"/>
                </a:solidFill>
                <a:latin typeface="Raleway"/>
                <a:ea typeface="Raleway"/>
                <a:cs typeface="Raleway"/>
                <a:sym typeface="Raleway"/>
              </a:rPr>
              <a:t>Feature Engineering and Selection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611225" y="6886575"/>
            <a:ext cx="2571750" cy="772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9"/>
              </a:lnSpc>
            </a:pPr>
            <a:r>
              <a:rPr lang="en-US" sz="2199">
                <a:solidFill>
                  <a:srgbClr val="3E3126"/>
                </a:solidFill>
                <a:latin typeface="Raleway"/>
                <a:ea typeface="Raleway"/>
                <a:cs typeface="Raleway"/>
                <a:sym typeface="Raleway"/>
              </a:rPr>
              <a:t>Modeling and Results Insights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488928" y="9402749"/>
            <a:ext cx="152400" cy="2095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r" marL="0" indent="0" lvl="0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E3126"/>
                </a:solidFill>
                <a:latin typeface="Raleway"/>
                <a:ea typeface="Raleway"/>
                <a:cs typeface="Raleway"/>
                <a:sym typeface="Raleway"/>
              </a:rPr>
              <a:t>3</a:t>
            </a:r>
          </a:p>
        </p:txBody>
      </p:sp>
      <p:sp>
        <p:nvSpPr>
          <p:cNvPr name="AutoShape 10" id="10"/>
          <p:cNvSpPr/>
          <p:nvPr/>
        </p:nvSpPr>
        <p:spPr>
          <a:xfrm>
            <a:off x="1431704" y="9610725"/>
            <a:ext cx="15624461" cy="0"/>
          </a:xfrm>
          <a:prstGeom prst="line">
            <a:avLst/>
          </a:prstGeom>
          <a:ln cap="flat" w="19050">
            <a:solidFill>
              <a:srgbClr val="3E312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671512" y="9387884"/>
            <a:ext cx="445682" cy="445682"/>
          </a:xfrm>
          <a:custGeom>
            <a:avLst/>
            <a:gdLst/>
            <a:ahLst/>
            <a:cxnLst/>
            <a:rect r="r" b="b" t="t" l="l"/>
            <a:pathLst>
              <a:path h="445682" w="445682">
                <a:moveTo>
                  <a:pt x="0" y="0"/>
                </a:moveTo>
                <a:lnTo>
                  <a:pt x="445683" y="0"/>
                </a:lnTo>
                <a:lnTo>
                  <a:pt x="445683" y="445682"/>
                </a:lnTo>
                <a:lnTo>
                  <a:pt x="0" y="4456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662404" y="5469939"/>
            <a:ext cx="1137821" cy="568911"/>
          </a:xfrm>
          <a:custGeom>
            <a:avLst/>
            <a:gdLst/>
            <a:ahLst/>
            <a:cxnLst/>
            <a:rect r="r" b="b" t="t" l="l"/>
            <a:pathLst>
              <a:path h="568911" w="1137821">
                <a:moveTo>
                  <a:pt x="0" y="0"/>
                </a:moveTo>
                <a:lnTo>
                  <a:pt x="1137821" y="0"/>
                </a:lnTo>
                <a:lnTo>
                  <a:pt x="1137821" y="568911"/>
                </a:lnTo>
                <a:lnTo>
                  <a:pt x="0" y="5689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-10800000">
            <a:off x="4994990" y="5478820"/>
            <a:ext cx="1120060" cy="560030"/>
          </a:xfrm>
          <a:custGeom>
            <a:avLst/>
            <a:gdLst/>
            <a:ahLst/>
            <a:cxnLst/>
            <a:rect r="r" b="b" t="t" l="l"/>
            <a:pathLst>
              <a:path h="560030" w="1120060">
                <a:moveTo>
                  <a:pt x="0" y="0"/>
                </a:moveTo>
                <a:lnTo>
                  <a:pt x="1120060" y="0"/>
                </a:lnTo>
                <a:lnTo>
                  <a:pt x="1120060" y="560030"/>
                </a:lnTo>
                <a:lnTo>
                  <a:pt x="0" y="5600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-10800000">
            <a:off x="13611225" y="5478820"/>
            <a:ext cx="1120060" cy="560030"/>
          </a:xfrm>
          <a:custGeom>
            <a:avLst/>
            <a:gdLst/>
            <a:ahLst/>
            <a:cxnLst/>
            <a:rect r="r" b="b" t="t" l="l"/>
            <a:pathLst>
              <a:path h="560030" w="1120060">
                <a:moveTo>
                  <a:pt x="0" y="0"/>
                </a:moveTo>
                <a:lnTo>
                  <a:pt x="1120060" y="0"/>
                </a:lnTo>
                <a:lnTo>
                  <a:pt x="1120060" y="560030"/>
                </a:lnTo>
                <a:lnTo>
                  <a:pt x="0" y="5600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9296400" y="5478820"/>
            <a:ext cx="1120060" cy="560030"/>
          </a:xfrm>
          <a:custGeom>
            <a:avLst/>
            <a:gdLst/>
            <a:ahLst/>
            <a:cxnLst/>
            <a:rect r="r" b="b" t="t" l="l"/>
            <a:pathLst>
              <a:path h="560030" w="1120060">
                <a:moveTo>
                  <a:pt x="0" y="0"/>
                </a:moveTo>
                <a:lnTo>
                  <a:pt x="1120060" y="0"/>
                </a:lnTo>
                <a:lnTo>
                  <a:pt x="1120060" y="560030"/>
                </a:lnTo>
                <a:lnTo>
                  <a:pt x="0" y="5600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5753100" cy="8058150"/>
            <a:chOff x="0" y="0"/>
            <a:chExt cx="876367" cy="122749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76367" cy="1227494"/>
            </a:xfrm>
            <a:custGeom>
              <a:avLst/>
              <a:gdLst/>
              <a:ahLst/>
              <a:cxnLst/>
              <a:rect r="r" b="b" t="t" l="l"/>
              <a:pathLst>
                <a:path h="1227494" w="876367">
                  <a:moveTo>
                    <a:pt x="0" y="0"/>
                  </a:moveTo>
                  <a:lnTo>
                    <a:pt x="876367" y="0"/>
                  </a:lnTo>
                  <a:lnTo>
                    <a:pt x="876367" y="1227494"/>
                  </a:lnTo>
                  <a:lnTo>
                    <a:pt x="0" y="1227494"/>
                  </a:lnTo>
                  <a:close/>
                </a:path>
              </a:pathLst>
            </a:custGeom>
            <a:blipFill>
              <a:blip r:embed="rId2"/>
              <a:stretch>
                <a:fillRect l="0" t="-455" r="0" b="-455"/>
              </a:stretch>
            </a:blip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7772758" y="666750"/>
            <a:ext cx="9725330" cy="7218599"/>
            <a:chOff x="0" y="0"/>
            <a:chExt cx="12967107" cy="9624799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76200"/>
              <a:ext cx="12926423" cy="3429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900"/>
                </a:lnSpc>
              </a:pPr>
              <a:r>
                <a:rPr lang="en-US" sz="9000" strike="noStrike" u="none">
                  <a:solidFill>
                    <a:srgbClr val="3E3126"/>
                  </a:solidFill>
                  <a:latin typeface="Raleway"/>
                  <a:ea typeface="Raleway"/>
                  <a:cs typeface="Raleway"/>
                  <a:sym typeface="Raleway"/>
                </a:rPr>
                <a:t>Data Preparation  Steps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4127392"/>
              <a:ext cx="12967107" cy="647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00"/>
                </a:lnSpc>
                <a:spcBef>
                  <a:spcPct val="0"/>
                </a:spcBef>
              </a:pPr>
              <a:r>
                <a:rPr lang="en-US" b="true" sz="3000" strike="noStrike" u="none">
                  <a:solidFill>
                    <a:srgbClr val="7A6852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Steps for a refined dataset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5911742"/>
              <a:ext cx="12967107" cy="37130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96569" indent="-248284" lvl="1">
                <a:lnSpc>
                  <a:spcPts val="3219"/>
                </a:lnSpc>
                <a:buFont typeface="Arial"/>
                <a:buChar char="•"/>
              </a:pPr>
              <a:r>
                <a:rPr lang="en-US" sz="2299">
                  <a:solidFill>
                    <a:srgbClr val="3E3126"/>
                  </a:solidFill>
                  <a:latin typeface="Raleway"/>
                  <a:ea typeface="Raleway"/>
                  <a:cs typeface="Raleway"/>
                  <a:sym typeface="Raleway"/>
                </a:rPr>
                <a:t>Fi</a:t>
              </a:r>
              <a:r>
                <a:rPr lang="en-US" sz="2299" strike="noStrike" u="none">
                  <a:solidFill>
                    <a:srgbClr val="3E3126"/>
                  </a:solidFill>
                  <a:latin typeface="Raleway"/>
                  <a:ea typeface="Raleway"/>
                  <a:cs typeface="Raleway"/>
                  <a:sym typeface="Raleway"/>
                </a:rPr>
                <a:t>l</a:t>
              </a:r>
              <a:r>
                <a:rPr lang="en-US" sz="2299" strike="noStrike" u="none">
                  <a:solidFill>
                    <a:srgbClr val="3E3126"/>
                  </a:solidFill>
                  <a:latin typeface="Raleway"/>
                  <a:ea typeface="Raleway"/>
                  <a:cs typeface="Raleway"/>
                  <a:sym typeface="Raleway"/>
                </a:rPr>
                <a:t>t</a:t>
              </a:r>
              <a:r>
                <a:rPr lang="en-US" sz="2299" strike="noStrike" u="none">
                  <a:solidFill>
                    <a:srgbClr val="3E3126"/>
                  </a:solidFill>
                  <a:latin typeface="Raleway"/>
                  <a:ea typeface="Raleway"/>
                  <a:cs typeface="Raleway"/>
                  <a:sym typeface="Raleway"/>
                </a:rPr>
                <a:t>e</a:t>
              </a:r>
              <a:r>
                <a:rPr lang="en-US" sz="2299" strike="noStrike" u="none">
                  <a:solidFill>
                    <a:srgbClr val="3E3126"/>
                  </a:solidFill>
                  <a:latin typeface="Raleway"/>
                  <a:ea typeface="Raleway"/>
                  <a:cs typeface="Raleway"/>
                  <a:sym typeface="Raleway"/>
                </a:rPr>
                <a:t>red for</a:t>
              </a:r>
              <a:r>
                <a:rPr lang="en-US" sz="2299" strike="noStrike" u="none">
                  <a:solidFill>
                    <a:srgbClr val="3E3126"/>
                  </a:solidFill>
                  <a:latin typeface="Raleway"/>
                  <a:ea typeface="Raleway"/>
                  <a:cs typeface="Raleway"/>
                  <a:sym typeface="Raleway"/>
                </a:rPr>
                <a:t> </a:t>
              </a:r>
              <a:r>
                <a:rPr lang="en-US" sz="2299" strike="noStrike" u="none">
                  <a:solidFill>
                    <a:srgbClr val="3E3126"/>
                  </a:solidFill>
                  <a:latin typeface="Raleway"/>
                  <a:ea typeface="Raleway"/>
                  <a:cs typeface="Raleway"/>
                  <a:sym typeface="Raleway"/>
                </a:rPr>
                <a:t>Ital</a:t>
              </a:r>
              <a:r>
                <a:rPr lang="en-US" sz="2299" strike="noStrike" u="none">
                  <a:solidFill>
                    <a:srgbClr val="3E3126"/>
                  </a:solidFill>
                  <a:latin typeface="Raleway"/>
                  <a:ea typeface="Raleway"/>
                  <a:cs typeface="Raleway"/>
                  <a:sym typeface="Raleway"/>
                </a:rPr>
                <a:t>i</a:t>
              </a:r>
              <a:r>
                <a:rPr lang="en-US" sz="2299" strike="noStrike" u="none">
                  <a:solidFill>
                    <a:srgbClr val="3E3126"/>
                  </a:solidFill>
                  <a:latin typeface="Raleway"/>
                  <a:ea typeface="Raleway"/>
                  <a:cs typeface="Raleway"/>
                  <a:sym typeface="Raleway"/>
                </a:rPr>
                <a:t>a</a:t>
              </a:r>
              <a:r>
                <a:rPr lang="en-US" sz="2299" strike="noStrike" u="none">
                  <a:solidFill>
                    <a:srgbClr val="3E3126"/>
                  </a:solidFill>
                  <a:latin typeface="Raleway"/>
                  <a:ea typeface="Raleway"/>
                  <a:cs typeface="Raleway"/>
                  <a:sym typeface="Raleway"/>
                </a:rPr>
                <a:t>n </a:t>
              </a:r>
              <a:r>
                <a:rPr lang="en-US" sz="2299" strike="noStrike" u="none">
                  <a:solidFill>
                    <a:srgbClr val="3E3126"/>
                  </a:solidFill>
                  <a:latin typeface="Raleway"/>
                  <a:ea typeface="Raleway"/>
                  <a:cs typeface="Raleway"/>
                  <a:sym typeface="Raleway"/>
                </a:rPr>
                <a:t>rest</a:t>
              </a:r>
              <a:r>
                <a:rPr lang="en-US" sz="2299" strike="noStrike" u="none">
                  <a:solidFill>
                    <a:srgbClr val="3E3126"/>
                  </a:solidFill>
                  <a:latin typeface="Raleway"/>
                  <a:ea typeface="Raleway"/>
                  <a:cs typeface="Raleway"/>
                  <a:sym typeface="Raleway"/>
                </a:rPr>
                <a:t>a</a:t>
              </a:r>
              <a:r>
                <a:rPr lang="en-US" sz="2299" strike="noStrike" u="none">
                  <a:solidFill>
                    <a:srgbClr val="3E3126"/>
                  </a:solidFill>
                  <a:latin typeface="Raleway"/>
                  <a:ea typeface="Raleway"/>
                  <a:cs typeface="Raleway"/>
                  <a:sym typeface="Raleway"/>
                </a:rPr>
                <a:t>ur</a:t>
              </a:r>
              <a:r>
                <a:rPr lang="en-US" sz="2299" strike="noStrike" u="none">
                  <a:solidFill>
                    <a:srgbClr val="3E3126"/>
                  </a:solidFill>
                  <a:latin typeface="Raleway"/>
                  <a:ea typeface="Raleway"/>
                  <a:cs typeface="Raleway"/>
                  <a:sym typeface="Raleway"/>
                </a:rPr>
                <a:t>a</a:t>
              </a:r>
              <a:r>
                <a:rPr lang="en-US" sz="2299" strike="noStrike" u="none">
                  <a:solidFill>
                    <a:srgbClr val="3E3126"/>
                  </a:solidFill>
                  <a:latin typeface="Raleway"/>
                  <a:ea typeface="Raleway"/>
                  <a:cs typeface="Raleway"/>
                  <a:sym typeface="Raleway"/>
                </a:rPr>
                <a:t>n</a:t>
              </a:r>
              <a:r>
                <a:rPr lang="en-US" sz="2299" strike="noStrike" u="none">
                  <a:solidFill>
                    <a:srgbClr val="3E3126"/>
                  </a:solidFill>
                  <a:latin typeface="Raleway"/>
                  <a:ea typeface="Raleway"/>
                  <a:cs typeface="Raleway"/>
                  <a:sym typeface="Raleway"/>
                </a:rPr>
                <a:t>t</a:t>
              </a:r>
              <a:r>
                <a:rPr lang="en-US" sz="2299" strike="noStrike" u="none">
                  <a:solidFill>
                    <a:srgbClr val="3E3126"/>
                  </a:solidFill>
                  <a:latin typeface="Raleway"/>
                  <a:ea typeface="Raleway"/>
                  <a:cs typeface="Raleway"/>
                  <a:sym typeface="Raleway"/>
                </a:rPr>
                <a:t>s</a:t>
              </a:r>
            </a:p>
            <a:p>
              <a:pPr algn="l" marL="496569" indent="-248284" lvl="1">
                <a:lnSpc>
                  <a:spcPts val="3219"/>
                </a:lnSpc>
                <a:buFont typeface="Arial"/>
                <a:buChar char="•"/>
              </a:pPr>
              <a:r>
                <a:rPr lang="en-US" sz="2299" strike="noStrike" u="none">
                  <a:solidFill>
                    <a:srgbClr val="3E3126"/>
                  </a:solidFill>
                  <a:latin typeface="Raleway"/>
                  <a:ea typeface="Raleway"/>
                  <a:cs typeface="Raleway"/>
                  <a:sym typeface="Raleway"/>
                </a:rPr>
                <a:t>Cl</a:t>
              </a:r>
              <a:r>
                <a:rPr lang="en-US" sz="2299" strike="noStrike" u="none">
                  <a:solidFill>
                    <a:srgbClr val="3E3126"/>
                  </a:solidFill>
                  <a:latin typeface="Raleway"/>
                  <a:ea typeface="Raleway"/>
                  <a:cs typeface="Raleway"/>
                  <a:sym typeface="Raleway"/>
                </a:rPr>
                <a:t>ean</a:t>
              </a:r>
              <a:r>
                <a:rPr lang="en-US" sz="2299" strike="noStrike" u="none">
                  <a:solidFill>
                    <a:srgbClr val="3E3126"/>
                  </a:solidFill>
                  <a:latin typeface="Raleway"/>
                  <a:ea typeface="Raleway"/>
                  <a:cs typeface="Raleway"/>
                  <a:sym typeface="Raleway"/>
                </a:rPr>
                <a:t>e</a:t>
              </a:r>
              <a:r>
                <a:rPr lang="en-US" sz="2299" strike="noStrike" u="none">
                  <a:solidFill>
                    <a:srgbClr val="3E3126"/>
                  </a:solidFill>
                  <a:latin typeface="Raleway"/>
                  <a:ea typeface="Raleway"/>
                  <a:cs typeface="Raleway"/>
                  <a:sym typeface="Raleway"/>
                </a:rPr>
                <a:t>d </a:t>
              </a:r>
              <a:r>
                <a:rPr lang="en-US" sz="2299" strike="noStrike" u="none">
                  <a:solidFill>
                    <a:srgbClr val="3E3126"/>
                  </a:solidFill>
                  <a:latin typeface="Raleway"/>
                  <a:ea typeface="Raleway"/>
                  <a:cs typeface="Raleway"/>
                  <a:sym typeface="Raleway"/>
                </a:rPr>
                <a:t>text from punctuation, st</a:t>
              </a:r>
              <a:r>
                <a:rPr lang="en-US" sz="2299" strike="noStrike" u="none">
                  <a:solidFill>
                    <a:srgbClr val="3E3126"/>
                  </a:solidFill>
                  <a:latin typeface="Raleway"/>
                  <a:ea typeface="Raleway"/>
                  <a:cs typeface="Raleway"/>
                  <a:sym typeface="Raleway"/>
                </a:rPr>
                <a:t>an</a:t>
              </a:r>
              <a:r>
                <a:rPr lang="en-US" sz="2299" strike="noStrike" u="none">
                  <a:solidFill>
                    <a:srgbClr val="3E3126"/>
                  </a:solidFill>
                  <a:latin typeface="Raleway"/>
                  <a:ea typeface="Raleway"/>
                  <a:cs typeface="Raleway"/>
                  <a:sym typeface="Raleway"/>
                </a:rPr>
                <a:t>d</a:t>
              </a:r>
              <a:r>
                <a:rPr lang="en-US" sz="2299" strike="noStrike" u="none">
                  <a:solidFill>
                    <a:srgbClr val="3E3126"/>
                  </a:solidFill>
                  <a:latin typeface="Raleway"/>
                  <a:ea typeface="Raleway"/>
                  <a:cs typeface="Raleway"/>
                  <a:sym typeface="Raleway"/>
                </a:rPr>
                <a:t>a</a:t>
              </a:r>
              <a:r>
                <a:rPr lang="en-US" sz="2299" strike="noStrike" u="none">
                  <a:solidFill>
                    <a:srgbClr val="3E3126"/>
                  </a:solidFill>
                  <a:latin typeface="Raleway"/>
                  <a:ea typeface="Raleway"/>
                  <a:cs typeface="Raleway"/>
                  <a:sym typeface="Raleway"/>
                </a:rPr>
                <a:t>rdiz</a:t>
              </a:r>
              <a:r>
                <a:rPr lang="en-US" sz="2299" strike="noStrike" u="none">
                  <a:solidFill>
                    <a:srgbClr val="3E3126"/>
                  </a:solidFill>
                  <a:latin typeface="Raleway"/>
                  <a:ea typeface="Raleway"/>
                  <a:cs typeface="Raleway"/>
                  <a:sym typeface="Raleway"/>
                </a:rPr>
                <a:t>e</a:t>
              </a:r>
              <a:r>
                <a:rPr lang="en-US" sz="2299" strike="noStrike" u="none">
                  <a:solidFill>
                    <a:srgbClr val="3E3126"/>
                  </a:solidFill>
                  <a:latin typeface="Raleway"/>
                  <a:ea typeface="Raleway"/>
                  <a:cs typeface="Raleway"/>
                  <a:sym typeface="Raleway"/>
                </a:rPr>
                <a:t>d</a:t>
              </a:r>
              <a:r>
                <a:rPr lang="en-US" sz="2299" strike="noStrike" u="none">
                  <a:solidFill>
                    <a:srgbClr val="3E3126"/>
                  </a:solidFill>
                  <a:latin typeface="Raleway"/>
                  <a:ea typeface="Raleway"/>
                  <a:cs typeface="Raleway"/>
                  <a:sym typeface="Raleway"/>
                </a:rPr>
                <a:t> </a:t>
              </a:r>
              <a:r>
                <a:rPr lang="en-US" sz="2299" strike="noStrike" u="none">
                  <a:solidFill>
                    <a:srgbClr val="3E3126"/>
                  </a:solidFill>
                  <a:latin typeface="Raleway"/>
                  <a:ea typeface="Raleway"/>
                  <a:cs typeface="Raleway"/>
                  <a:sym typeface="Raleway"/>
                </a:rPr>
                <a:t>ca</a:t>
              </a:r>
              <a:r>
                <a:rPr lang="en-US" sz="2299" strike="noStrike" u="none">
                  <a:solidFill>
                    <a:srgbClr val="3E3126"/>
                  </a:solidFill>
                  <a:latin typeface="Raleway"/>
                  <a:ea typeface="Raleway"/>
                  <a:cs typeface="Raleway"/>
                  <a:sym typeface="Raleway"/>
                </a:rPr>
                <a:t>t</a:t>
              </a:r>
              <a:r>
                <a:rPr lang="en-US" sz="2299" strike="noStrike" u="none">
                  <a:solidFill>
                    <a:srgbClr val="3E3126"/>
                  </a:solidFill>
                  <a:latin typeface="Raleway"/>
                  <a:ea typeface="Raleway"/>
                  <a:cs typeface="Raleway"/>
                  <a:sym typeface="Raleway"/>
                </a:rPr>
                <a:t>egor</a:t>
              </a:r>
              <a:r>
                <a:rPr lang="en-US" sz="2299" strike="noStrike" u="none">
                  <a:solidFill>
                    <a:srgbClr val="3E3126"/>
                  </a:solidFill>
                  <a:latin typeface="Raleway"/>
                  <a:ea typeface="Raleway"/>
                  <a:cs typeface="Raleway"/>
                  <a:sym typeface="Raleway"/>
                </a:rPr>
                <a:t>ies</a:t>
              </a:r>
            </a:p>
            <a:p>
              <a:pPr algn="l" marL="496569" indent="-248284" lvl="1">
                <a:lnSpc>
                  <a:spcPts val="3219"/>
                </a:lnSpc>
                <a:buFont typeface="Arial"/>
                <a:buChar char="•"/>
              </a:pPr>
              <a:r>
                <a:rPr lang="en-US" sz="2299" strike="noStrike" u="none">
                  <a:solidFill>
                    <a:srgbClr val="3E3126"/>
                  </a:solidFill>
                  <a:latin typeface="Raleway"/>
                  <a:ea typeface="Raleway"/>
                  <a:cs typeface="Raleway"/>
                  <a:sym typeface="Raleway"/>
                </a:rPr>
                <a:t>Re</a:t>
              </a:r>
              <a:r>
                <a:rPr lang="en-US" sz="2299" strike="noStrike" u="none">
                  <a:solidFill>
                    <a:srgbClr val="3E3126"/>
                  </a:solidFill>
                  <a:latin typeface="Raleway"/>
                  <a:ea typeface="Raleway"/>
                  <a:cs typeface="Raleway"/>
                  <a:sym typeface="Raleway"/>
                </a:rPr>
                <a:t>co</a:t>
              </a:r>
              <a:r>
                <a:rPr lang="en-US" sz="2299" strike="noStrike" u="none">
                  <a:solidFill>
                    <a:srgbClr val="3E3126"/>
                  </a:solidFill>
                  <a:latin typeface="Raleway"/>
                  <a:ea typeface="Raleway"/>
                  <a:cs typeface="Raleway"/>
                  <a:sym typeface="Raleway"/>
                </a:rPr>
                <a:t>nstru</a:t>
              </a:r>
              <a:r>
                <a:rPr lang="en-US" sz="2299" strike="noStrike" u="none">
                  <a:solidFill>
                    <a:srgbClr val="3E3126"/>
                  </a:solidFill>
                  <a:latin typeface="Raleway"/>
                  <a:ea typeface="Raleway"/>
                  <a:cs typeface="Raleway"/>
                  <a:sym typeface="Raleway"/>
                </a:rPr>
                <a:t>cte</a:t>
              </a:r>
              <a:r>
                <a:rPr lang="en-US" sz="2299" strike="noStrike" u="none">
                  <a:solidFill>
                    <a:srgbClr val="3E3126"/>
                  </a:solidFill>
                  <a:latin typeface="Raleway"/>
                  <a:ea typeface="Raleway"/>
                  <a:cs typeface="Raleway"/>
                  <a:sym typeface="Raleway"/>
                </a:rPr>
                <a:t>d </a:t>
              </a:r>
              <a:r>
                <a:rPr lang="en-US" sz="2299" strike="noStrike" u="none">
                  <a:solidFill>
                    <a:srgbClr val="3E3126"/>
                  </a:solidFill>
                  <a:latin typeface="Raleway"/>
                  <a:ea typeface="Raleway"/>
                  <a:cs typeface="Raleway"/>
                  <a:sym typeface="Raleway"/>
                </a:rPr>
                <a:t>g</a:t>
              </a:r>
              <a:r>
                <a:rPr lang="en-US" sz="2299" strike="noStrike" u="none">
                  <a:solidFill>
                    <a:srgbClr val="3E3126"/>
                  </a:solidFill>
                  <a:latin typeface="Raleway"/>
                  <a:ea typeface="Raleway"/>
                  <a:cs typeface="Raleway"/>
                  <a:sym typeface="Raleway"/>
                </a:rPr>
                <a:t>e</a:t>
              </a:r>
              <a:r>
                <a:rPr lang="en-US" sz="2299" strike="noStrike" u="none">
                  <a:solidFill>
                    <a:srgbClr val="3E3126"/>
                  </a:solidFill>
                  <a:latin typeface="Raleway"/>
                  <a:ea typeface="Raleway"/>
                  <a:cs typeface="Raleway"/>
                  <a:sym typeface="Raleway"/>
                </a:rPr>
                <a:t>o</a:t>
              </a:r>
              <a:r>
                <a:rPr lang="en-US" sz="2299" strike="noStrike" u="none">
                  <a:solidFill>
                    <a:srgbClr val="3E3126"/>
                  </a:solidFill>
                  <a:latin typeface="Raleway"/>
                  <a:ea typeface="Raleway"/>
                  <a:cs typeface="Raleway"/>
                  <a:sym typeface="Raleway"/>
                </a:rPr>
                <a:t>g</a:t>
              </a:r>
              <a:r>
                <a:rPr lang="en-US" sz="2299" strike="noStrike" u="none">
                  <a:solidFill>
                    <a:srgbClr val="3E3126"/>
                  </a:solidFill>
                  <a:latin typeface="Raleway"/>
                  <a:ea typeface="Raleway"/>
                  <a:cs typeface="Raleway"/>
                  <a:sym typeface="Raleway"/>
                </a:rPr>
                <a:t>r</a:t>
              </a:r>
              <a:r>
                <a:rPr lang="en-US" sz="2299" strike="noStrike" u="none">
                  <a:solidFill>
                    <a:srgbClr val="3E3126"/>
                  </a:solidFill>
                  <a:latin typeface="Raleway"/>
                  <a:ea typeface="Raleway"/>
                  <a:cs typeface="Raleway"/>
                  <a:sym typeface="Raleway"/>
                </a:rPr>
                <a:t>aph</a:t>
              </a:r>
              <a:r>
                <a:rPr lang="en-US" sz="2299" strike="noStrike" u="none">
                  <a:solidFill>
                    <a:srgbClr val="3E3126"/>
                  </a:solidFill>
                  <a:latin typeface="Raleway"/>
                  <a:ea typeface="Raleway"/>
                  <a:cs typeface="Raleway"/>
                  <a:sym typeface="Raleway"/>
                </a:rPr>
                <a:t>ic </a:t>
              </a:r>
              <a:r>
                <a:rPr lang="en-US" sz="2299" strike="noStrike" u="none">
                  <a:solidFill>
                    <a:srgbClr val="3E3126"/>
                  </a:solidFill>
                  <a:latin typeface="Raleway"/>
                  <a:ea typeface="Raleway"/>
                  <a:cs typeface="Raleway"/>
                  <a:sym typeface="Raleway"/>
                </a:rPr>
                <a:t>hier</a:t>
              </a:r>
              <a:r>
                <a:rPr lang="en-US" sz="2299" strike="noStrike" u="none">
                  <a:solidFill>
                    <a:srgbClr val="3E3126"/>
                  </a:solidFill>
                  <a:latin typeface="Raleway"/>
                  <a:ea typeface="Raleway"/>
                  <a:cs typeface="Raleway"/>
                  <a:sym typeface="Raleway"/>
                </a:rPr>
                <a:t>ar</a:t>
              </a:r>
              <a:r>
                <a:rPr lang="en-US" sz="2299" strike="noStrike" u="none">
                  <a:solidFill>
                    <a:srgbClr val="3E3126"/>
                  </a:solidFill>
                  <a:latin typeface="Raleway"/>
                  <a:ea typeface="Raleway"/>
                  <a:cs typeface="Raleway"/>
                  <a:sym typeface="Raleway"/>
                </a:rPr>
                <a:t>chy (Reg</a:t>
              </a:r>
              <a:r>
                <a:rPr lang="en-US" sz="2299" strike="noStrike" u="none">
                  <a:solidFill>
                    <a:srgbClr val="3E3126"/>
                  </a:solidFill>
                  <a:latin typeface="Raleway"/>
                  <a:ea typeface="Raleway"/>
                  <a:cs typeface="Raleway"/>
                  <a:sym typeface="Raleway"/>
                </a:rPr>
                <a:t>i</a:t>
              </a:r>
              <a:r>
                <a:rPr lang="en-US" sz="2299" strike="noStrike" u="none">
                  <a:solidFill>
                    <a:srgbClr val="3E3126"/>
                  </a:solidFill>
                  <a:latin typeface="Raleway"/>
                  <a:ea typeface="Raleway"/>
                  <a:cs typeface="Raleway"/>
                  <a:sym typeface="Raleway"/>
                </a:rPr>
                <a:t>on →</a:t>
              </a:r>
              <a:r>
                <a:rPr lang="en-US" sz="2299" strike="noStrike" u="none">
                  <a:solidFill>
                    <a:srgbClr val="3E3126"/>
                  </a:solidFill>
                  <a:latin typeface="Raleway"/>
                  <a:ea typeface="Raleway"/>
                  <a:cs typeface="Raleway"/>
                  <a:sym typeface="Raleway"/>
                </a:rPr>
                <a:t> </a:t>
              </a:r>
              <a:r>
                <a:rPr lang="en-US" sz="2299" strike="noStrike" u="none">
                  <a:solidFill>
                    <a:srgbClr val="3E3126"/>
                  </a:solidFill>
                  <a:latin typeface="Raleway"/>
                  <a:ea typeface="Raleway"/>
                  <a:cs typeface="Raleway"/>
                  <a:sym typeface="Raleway"/>
                </a:rPr>
                <a:t>Pr</a:t>
              </a:r>
              <a:r>
                <a:rPr lang="en-US" sz="2299" strike="noStrike" u="none">
                  <a:solidFill>
                    <a:srgbClr val="3E3126"/>
                  </a:solidFill>
                  <a:latin typeface="Raleway"/>
                  <a:ea typeface="Raleway"/>
                  <a:cs typeface="Raleway"/>
                  <a:sym typeface="Raleway"/>
                </a:rPr>
                <a:t>o</a:t>
              </a:r>
              <a:r>
                <a:rPr lang="en-US" sz="2299" strike="noStrike" u="none">
                  <a:solidFill>
                    <a:srgbClr val="3E3126"/>
                  </a:solidFill>
                  <a:latin typeface="Raleway"/>
                  <a:ea typeface="Raleway"/>
                  <a:cs typeface="Raleway"/>
                  <a:sym typeface="Raleway"/>
                </a:rPr>
                <a:t>vinc</a:t>
              </a:r>
              <a:r>
                <a:rPr lang="en-US" sz="2299" strike="noStrike" u="none">
                  <a:solidFill>
                    <a:srgbClr val="3E3126"/>
                  </a:solidFill>
                  <a:latin typeface="Raleway"/>
                  <a:ea typeface="Raleway"/>
                  <a:cs typeface="Raleway"/>
                  <a:sym typeface="Raleway"/>
                </a:rPr>
                <a:t>e</a:t>
              </a:r>
              <a:r>
                <a:rPr lang="en-US" sz="2299" strike="noStrike" u="none">
                  <a:solidFill>
                    <a:srgbClr val="3E3126"/>
                  </a:solidFill>
                  <a:latin typeface="Raleway"/>
                  <a:ea typeface="Raleway"/>
                  <a:cs typeface="Raleway"/>
                  <a:sym typeface="Raleway"/>
                </a:rPr>
                <a:t> → Ci</a:t>
              </a:r>
              <a:r>
                <a:rPr lang="en-US" sz="2299" strike="noStrike" u="none">
                  <a:solidFill>
                    <a:srgbClr val="3E3126"/>
                  </a:solidFill>
                  <a:latin typeface="Raleway"/>
                  <a:ea typeface="Raleway"/>
                  <a:cs typeface="Raleway"/>
                  <a:sym typeface="Raleway"/>
                </a:rPr>
                <a:t>ty</a:t>
              </a:r>
              <a:r>
                <a:rPr lang="en-US" sz="2299" strike="noStrike" u="none">
                  <a:solidFill>
                    <a:srgbClr val="3E3126"/>
                  </a:solidFill>
                  <a:latin typeface="Raleway"/>
                  <a:ea typeface="Raleway"/>
                  <a:cs typeface="Raleway"/>
                  <a:sym typeface="Raleway"/>
                </a:rPr>
                <a:t>)</a:t>
              </a:r>
            </a:p>
            <a:p>
              <a:pPr algn="l" marL="496569" indent="-248284" lvl="1">
                <a:lnSpc>
                  <a:spcPts val="3219"/>
                </a:lnSpc>
                <a:buFont typeface="Arial"/>
                <a:buChar char="•"/>
              </a:pPr>
              <a:r>
                <a:rPr lang="en-US" sz="2299" strike="noStrike" u="none">
                  <a:solidFill>
                    <a:srgbClr val="3E3126"/>
                  </a:solidFill>
                  <a:latin typeface="Raleway"/>
                  <a:ea typeface="Raleway"/>
                  <a:cs typeface="Raleway"/>
                  <a:sym typeface="Raleway"/>
                </a:rPr>
                <a:t>Turning List columns into features</a:t>
              </a:r>
            </a:p>
            <a:p>
              <a:pPr algn="l" marL="496569" indent="-248284" lvl="1">
                <a:lnSpc>
                  <a:spcPts val="3219"/>
                </a:lnSpc>
                <a:buFont typeface="Arial"/>
                <a:buChar char="•"/>
              </a:pPr>
              <a:r>
                <a:rPr lang="en-US" sz="2299" strike="noStrike" u="none">
                  <a:solidFill>
                    <a:srgbClr val="3E3126"/>
                  </a:solidFill>
                  <a:latin typeface="Raleway"/>
                  <a:ea typeface="Raleway"/>
                  <a:cs typeface="Raleway"/>
                  <a:sym typeface="Raleway"/>
                </a:rPr>
                <a:t>Cre</a:t>
              </a:r>
              <a:r>
                <a:rPr lang="en-US" sz="2299" strike="noStrike" u="none">
                  <a:solidFill>
                    <a:srgbClr val="3E3126"/>
                  </a:solidFill>
                  <a:latin typeface="Raleway"/>
                  <a:ea typeface="Raleway"/>
                  <a:cs typeface="Raleway"/>
                  <a:sym typeface="Raleway"/>
                </a:rPr>
                <a:t>a</a:t>
              </a:r>
              <a:r>
                <a:rPr lang="en-US" sz="2299" strike="noStrike" u="none">
                  <a:solidFill>
                    <a:srgbClr val="3E3126"/>
                  </a:solidFill>
                  <a:latin typeface="Raleway"/>
                  <a:ea typeface="Raleway"/>
                  <a:cs typeface="Raleway"/>
                  <a:sym typeface="Raleway"/>
                </a:rPr>
                <a:t>te</a:t>
              </a:r>
              <a:r>
                <a:rPr lang="en-US" sz="2299" strike="noStrike" u="none">
                  <a:solidFill>
                    <a:srgbClr val="3E3126"/>
                  </a:solidFill>
                  <a:latin typeface="Raleway"/>
                  <a:ea typeface="Raleway"/>
                  <a:cs typeface="Raleway"/>
                  <a:sym typeface="Raleway"/>
                </a:rPr>
                <a:t>d</a:t>
              </a:r>
              <a:r>
                <a:rPr lang="en-US" sz="2299" strike="noStrike" u="none">
                  <a:solidFill>
                    <a:srgbClr val="3E3126"/>
                  </a:solidFill>
                  <a:latin typeface="Raleway"/>
                  <a:ea typeface="Raleway"/>
                  <a:cs typeface="Raleway"/>
                  <a:sym typeface="Raleway"/>
                </a:rPr>
                <a:t> bin</a:t>
              </a:r>
              <a:r>
                <a:rPr lang="en-US" sz="2299" strike="noStrike" u="none">
                  <a:solidFill>
                    <a:srgbClr val="3E3126"/>
                  </a:solidFill>
                  <a:latin typeface="Raleway"/>
                  <a:ea typeface="Raleway"/>
                  <a:cs typeface="Raleway"/>
                  <a:sym typeface="Raleway"/>
                </a:rPr>
                <a:t>ar</a:t>
              </a:r>
              <a:r>
                <a:rPr lang="en-US" sz="2299" strike="noStrike" u="none">
                  <a:solidFill>
                    <a:srgbClr val="3E3126"/>
                  </a:solidFill>
                  <a:latin typeface="Raleway"/>
                  <a:ea typeface="Raleway"/>
                  <a:cs typeface="Raleway"/>
                  <a:sym typeface="Raleway"/>
                </a:rPr>
                <a:t>y target: h</a:t>
              </a:r>
              <a:r>
                <a:rPr lang="en-US" sz="2299" strike="noStrike" u="none">
                  <a:solidFill>
                    <a:srgbClr val="3E3126"/>
                  </a:solidFill>
                  <a:latin typeface="Raleway"/>
                  <a:ea typeface="Raleway"/>
                  <a:cs typeface="Raleway"/>
                  <a:sym typeface="Raleway"/>
                </a:rPr>
                <a:t>i</a:t>
              </a:r>
              <a:r>
                <a:rPr lang="en-US" sz="2299" strike="noStrike" u="none">
                  <a:solidFill>
                    <a:srgbClr val="3E3126"/>
                  </a:solidFill>
                  <a:latin typeface="Raleway"/>
                  <a:ea typeface="Raleway"/>
                  <a:cs typeface="Raleway"/>
                  <a:sym typeface="Raleway"/>
                </a:rPr>
                <a:t>gh-rat</a:t>
              </a:r>
              <a:r>
                <a:rPr lang="en-US" sz="2299" strike="noStrike" u="none">
                  <a:solidFill>
                    <a:srgbClr val="3E3126"/>
                  </a:solidFill>
                  <a:latin typeface="Raleway"/>
                  <a:ea typeface="Raleway"/>
                  <a:cs typeface="Raleway"/>
                  <a:sym typeface="Raleway"/>
                </a:rPr>
                <a:t>e</a:t>
              </a:r>
              <a:r>
                <a:rPr lang="en-US" sz="2299" strike="noStrike" u="none">
                  <a:solidFill>
                    <a:srgbClr val="3E3126"/>
                  </a:solidFill>
                  <a:latin typeface="Raleway"/>
                  <a:ea typeface="Raleway"/>
                  <a:cs typeface="Raleway"/>
                  <a:sym typeface="Raleway"/>
                </a:rPr>
                <a:t>d</a:t>
              </a:r>
              <a:r>
                <a:rPr lang="en-US" sz="2299" strike="noStrike" u="none">
                  <a:solidFill>
                    <a:srgbClr val="3E3126"/>
                  </a:solidFill>
                  <a:latin typeface="Raleway"/>
                  <a:ea typeface="Raleway"/>
                  <a:cs typeface="Raleway"/>
                  <a:sym typeface="Raleway"/>
                </a:rPr>
                <a:t> </a:t>
              </a:r>
              <a:r>
                <a:rPr lang="en-US" sz="2299" strike="noStrike" u="none">
                  <a:solidFill>
                    <a:srgbClr val="3E3126"/>
                  </a:solidFill>
                  <a:latin typeface="Raleway"/>
                  <a:ea typeface="Raleway"/>
                  <a:cs typeface="Raleway"/>
                  <a:sym typeface="Raleway"/>
                </a:rPr>
                <a:t>(4.5&lt;=)+ l</a:t>
              </a:r>
              <a:r>
                <a:rPr lang="en-US" sz="2299" strike="noStrike" u="none">
                  <a:solidFill>
                    <a:srgbClr val="3E3126"/>
                  </a:solidFill>
                  <a:latin typeface="Raleway"/>
                  <a:ea typeface="Raleway"/>
                  <a:cs typeface="Raleway"/>
                  <a:sym typeface="Raleway"/>
                </a:rPr>
                <a:t>a</a:t>
              </a:r>
              <a:r>
                <a:rPr lang="en-US" sz="2299" strike="noStrike" u="none">
                  <a:solidFill>
                    <a:srgbClr val="3E3126"/>
                  </a:solidFill>
                  <a:latin typeface="Raleway"/>
                  <a:ea typeface="Raleway"/>
                  <a:cs typeface="Raleway"/>
                  <a:sym typeface="Raleway"/>
                </a:rPr>
                <a:t>rger </a:t>
              </a:r>
              <a:r>
                <a:rPr lang="en-US" sz="2299" strike="noStrike" u="none">
                  <a:solidFill>
                    <a:srgbClr val="3E3126"/>
                  </a:solidFill>
                  <a:latin typeface="Raleway"/>
                  <a:ea typeface="Raleway"/>
                  <a:cs typeface="Raleway"/>
                  <a:sym typeface="Raleway"/>
                </a:rPr>
                <a:t>t</a:t>
              </a:r>
              <a:r>
                <a:rPr lang="en-US" sz="2299" strike="noStrike" u="none">
                  <a:solidFill>
                    <a:srgbClr val="3E3126"/>
                  </a:solidFill>
                  <a:latin typeface="Raleway"/>
                  <a:ea typeface="Raleway"/>
                  <a:cs typeface="Raleway"/>
                  <a:sym typeface="Raleway"/>
                </a:rPr>
                <a:t>h</a:t>
              </a:r>
              <a:r>
                <a:rPr lang="en-US" sz="2299" strike="noStrike" u="none">
                  <a:solidFill>
                    <a:srgbClr val="3E3126"/>
                  </a:solidFill>
                  <a:latin typeface="Raleway"/>
                  <a:ea typeface="Raleway"/>
                  <a:cs typeface="Raleway"/>
                  <a:sym typeface="Raleway"/>
                </a:rPr>
                <a:t>a</a:t>
              </a:r>
              <a:r>
                <a:rPr lang="en-US" sz="2299" strike="noStrike" u="none">
                  <a:solidFill>
                    <a:srgbClr val="3E3126"/>
                  </a:solidFill>
                  <a:latin typeface="Raleway"/>
                  <a:ea typeface="Raleway"/>
                  <a:cs typeface="Raleway"/>
                  <a:sym typeface="Raleway"/>
                </a:rPr>
                <a:t>n</a:t>
              </a:r>
              <a:r>
                <a:rPr lang="en-US" sz="2299" strike="noStrike" u="none">
                  <a:solidFill>
                    <a:srgbClr val="3E3126"/>
                  </a:solidFill>
                  <a:latin typeface="Raleway"/>
                  <a:ea typeface="Raleway"/>
                  <a:cs typeface="Raleway"/>
                  <a:sym typeface="Raleway"/>
                </a:rPr>
                <a:t> m</a:t>
              </a:r>
              <a:r>
                <a:rPr lang="en-US" sz="2299" strike="noStrike" u="none">
                  <a:solidFill>
                    <a:srgbClr val="3E3126"/>
                  </a:solidFill>
                  <a:latin typeface="Raleway"/>
                  <a:ea typeface="Raleway"/>
                  <a:cs typeface="Raleway"/>
                  <a:sym typeface="Raleway"/>
                </a:rPr>
                <a:t>e</a:t>
              </a:r>
              <a:r>
                <a:rPr lang="en-US" sz="2299" strike="noStrike" u="none">
                  <a:solidFill>
                    <a:srgbClr val="3E3126"/>
                  </a:solidFill>
                  <a:latin typeface="Raleway"/>
                  <a:ea typeface="Raleway"/>
                  <a:cs typeface="Raleway"/>
                  <a:sym typeface="Raleway"/>
                </a:rPr>
                <a:t>a</a:t>
              </a:r>
              <a:r>
                <a:rPr lang="en-US" sz="2299" strike="noStrike" u="none">
                  <a:solidFill>
                    <a:srgbClr val="3E3126"/>
                  </a:solidFill>
                  <a:latin typeface="Raleway"/>
                  <a:ea typeface="Raleway"/>
                  <a:cs typeface="Raleway"/>
                  <a:sym typeface="Raleway"/>
                </a:rPr>
                <a:t>n</a:t>
              </a:r>
              <a:r>
                <a:rPr lang="en-US" sz="2299" strike="noStrike" u="none">
                  <a:solidFill>
                    <a:srgbClr val="3E3126"/>
                  </a:solidFill>
                  <a:latin typeface="Raleway"/>
                  <a:ea typeface="Raleway"/>
                  <a:cs typeface="Raleway"/>
                  <a:sym typeface="Raleway"/>
                </a:rPr>
                <a:t> r</a:t>
              </a:r>
              <a:r>
                <a:rPr lang="en-US" sz="2299" strike="noStrike" u="none">
                  <a:solidFill>
                    <a:srgbClr val="3E3126"/>
                  </a:solidFill>
                  <a:latin typeface="Raleway"/>
                  <a:ea typeface="Raleway"/>
                  <a:cs typeface="Raleway"/>
                  <a:sym typeface="Raleway"/>
                </a:rPr>
                <a:t>eviews</a:t>
              </a:r>
              <a:r>
                <a:rPr lang="en-US" sz="2299" strike="noStrike" u="none">
                  <a:solidFill>
                    <a:srgbClr val="3E3126"/>
                  </a:solidFill>
                  <a:latin typeface="Raleway"/>
                  <a:ea typeface="Raleway"/>
                  <a:cs typeface="Raleway"/>
                  <a:sym typeface="Raleway"/>
                </a:rPr>
                <a:t> </a:t>
              </a:r>
              <a:r>
                <a:rPr lang="en-US" sz="2299" strike="noStrike" u="none">
                  <a:solidFill>
                    <a:srgbClr val="3E3126"/>
                  </a:solidFill>
                  <a:latin typeface="Raleway"/>
                  <a:ea typeface="Raleway"/>
                  <a:cs typeface="Raleway"/>
                  <a:sym typeface="Raleway"/>
                </a:rPr>
                <a:t>= suc</a:t>
              </a:r>
              <a:r>
                <a:rPr lang="en-US" sz="2299" strike="noStrike" u="none">
                  <a:solidFill>
                    <a:srgbClr val="3E3126"/>
                  </a:solidFill>
                  <a:latin typeface="Raleway"/>
                  <a:ea typeface="Raleway"/>
                  <a:cs typeface="Raleway"/>
                  <a:sym typeface="Raleway"/>
                </a:rPr>
                <a:t>c</a:t>
              </a:r>
              <a:r>
                <a:rPr lang="en-US" sz="2299" strike="noStrike" u="none">
                  <a:solidFill>
                    <a:srgbClr val="3E3126"/>
                  </a:solidFill>
                  <a:latin typeface="Raleway"/>
                  <a:ea typeface="Raleway"/>
                  <a:cs typeface="Raleway"/>
                  <a:sym typeface="Raleway"/>
                </a:rPr>
                <a:t>e</a:t>
              </a:r>
              <a:r>
                <a:rPr lang="en-US" sz="2299" strike="noStrike" u="none">
                  <a:solidFill>
                    <a:srgbClr val="3E3126"/>
                  </a:solidFill>
                  <a:latin typeface="Raleway"/>
                  <a:ea typeface="Raleway"/>
                  <a:cs typeface="Raleway"/>
                  <a:sym typeface="Raleway"/>
                </a:rPr>
                <a:t>ss</a:t>
              </a:r>
            </a:p>
            <a:p>
              <a:pPr algn="l">
                <a:lnSpc>
                  <a:spcPts val="3219"/>
                </a:lnSpc>
              </a:pPr>
            </a:p>
          </p:txBody>
        </p:sp>
      </p:grpSp>
      <p:sp>
        <p:nvSpPr>
          <p:cNvPr name="AutoShape 8" id="8"/>
          <p:cNvSpPr/>
          <p:nvPr/>
        </p:nvSpPr>
        <p:spPr>
          <a:xfrm>
            <a:off x="1431704" y="9610725"/>
            <a:ext cx="15624461" cy="0"/>
          </a:xfrm>
          <a:prstGeom prst="line">
            <a:avLst/>
          </a:prstGeom>
          <a:ln cap="flat" w="19050">
            <a:solidFill>
              <a:srgbClr val="3E312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671512" y="9387884"/>
            <a:ext cx="445682" cy="445682"/>
          </a:xfrm>
          <a:custGeom>
            <a:avLst/>
            <a:gdLst/>
            <a:ahLst/>
            <a:cxnLst/>
            <a:rect r="r" b="b" t="t" l="l"/>
            <a:pathLst>
              <a:path h="445682" w="445682">
                <a:moveTo>
                  <a:pt x="0" y="0"/>
                </a:moveTo>
                <a:lnTo>
                  <a:pt x="445683" y="0"/>
                </a:lnTo>
                <a:lnTo>
                  <a:pt x="445683" y="445682"/>
                </a:lnTo>
                <a:lnTo>
                  <a:pt x="0" y="44568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7359380" y="9412274"/>
            <a:ext cx="152400" cy="2095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r" marL="0" indent="0" lvl="0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E3126"/>
                </a:solidFill>
                <a:latin typeface="Raleway"/>
                <a:ea typeface="Raleway"/>
                <a:cs typeface="Raleway"/>
                <a:sym typeface="Raleway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431704" y="9610725"/>
            <a:ext cx="15624461" cy="0"/>
          </a:xfrm>
          <a:prstGeom prst="line">
            <a:avLst/>
          </a:prstGeom>
          <a:ln cap="flat" w="19050">
            <a:solidFill>
              <a:srgbClr val="3E312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671512" y="9387884"/>
            <a:ext cx="445682" cy="445682"/>
          </a:xfrm>
          <a:custGeom>
            <a:avLst/>
            <a:gdLst/>
            <a:ahLst/>
            <a:cxnLst/>
            <a:rect r="r" b="b" t="t" l="l"/>
            <a:pathLst>
              <a:path h="445682" w="445682">
                <a:moveTo>
                  <a:pt x="0" y="0"/>
                </a:moveTo>
                <a:lnTo>
                  <a:pt x="445683" y="0"/>
                </a:lnTo>
                <a:lnTo>
                  <a:pt x="445683" y="445682"/>
                </a:lnTo>
                <a:lnTo>
                  <a:pt x="0" y="4456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666750" y="666750"/>
            <a:ext cx="13208441" cy="6087110"/>
            <a:chOff x="0" y="0"/>
            <a:chExt cx="17611255" cy="8116146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76200"/>
              <a:ext cx="17611255" cy="3429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900"/>
                </a:lnSpc>
              </a:pPr>
              <a:r>
                <a:rPr lang="en-US" sz="9000">
                  <a:solidFill>
                    <a:srgbClr val="3E3126"/>
                  </a:solidFill>
                  <a:latin typeface="Raleway"/>
                  <a:ea typeface="Raleway"/>
                  <a:cs typeface="Raleway"/>
                  <a:sym typeface="Raleway"/>
                </a:rPr>
                <a:t>Expl</a:t>
              </a:r>
              <a:r>
                <a:rPr lang="en-US" sz="9000">
                  <a:solidFill>
                    <a:srgbClr val="3E3126"/>
                  </a:solidFill>
                  <a:latin typeface="Raleway"/>
                  <a:ea typeface="Raleway"/>
                  <a:cs typeface="Raleway"/>
                  <a:sym typeface="Raleway"/>
                </a:rPr>
                <a:t>oratory Data Analysis (EDA)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3997325"/>
              <a:ext cx="17611255" cy="6762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200"/>
                </a:lnSpc>
              </a:pPr>
              <a:r>
                <a:rPr lang="en-US" sz="3000">
                  <a:solidFill>
                    <a:srgbClr val="7A6852"/>
                  </a:solidFill>
                  <a:latin typeface="Raleway"/>
                  <a:ea typeface="Raleway"/>
                  <a:cs typeface="Raleway"/>
                  <a:sym typeface="Raleway"/>
                </a:rPr>
                <a:t>Analyzing TripAdvisor Ratings for Success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5229225"/>
              <a:ext cx="17611255" cy="28869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60"/>
                </a:lnSpc>
              </a:pPr>
              <a:r>
                <a:rPr lang="en-US" sz="2200">
                  <a:solidFill>
                    <a:srgbClr val="3E3126"/>
                  </a:solidFill>
                  <a:latin typeface="Raleway"/>
                  <a:ea typeface="Raleway"/>
                  <a:cs typeface="Raleway"/>
                  <a:sym typeface="Raleway"/>
                </a:rPr>
                <a:t>•Ratings features (food, service, value) leak target → excluded</a:t>
              </a:r>
            </a:p>
            <a:p>
              <a:pPr algn="l">
                <a:lnSpc>
                  <a:spcPts val="2860"/>
                </a:lnSpc>
              </a:pPr>
              <a:r>
                <a:rPr lang="en-US" sz="2200">
                  <a:solidFill>
                    <a:srgbClr val="3E3126"/>
                  </a:solidFill>
                  <a:latin typeface="Raleway"/>
                  <a:ea typeface="Raleway"/>
                  <a:cs typeface="Raleway"/>
                  <a:sym typeface="Raleway"/>
                </a:rPr>
                <a:t>•Central Italy shows higher success rates</a:t>
              </a:r>
            </a:p>
            <a:p>
              <a:pPr algn="l">
                <a:lnSpc>
                  <a:spcPts val="2860"/>
                </a:lnSpc>
              </a:pPr>
              <a:r>
                <a:rPr lang="en-US" sz="2200">
                  <a:solidFill>
                    <a:srgbClr val="3E3126"/>
                  </a:solidFill>
                  <a:latin typeface="Raleway"/>
                  <a:ea typeface="Raleway"/>
                  <a:cs typeface="Raleway"/>
                  <a:sym typeface="Raleway"/>
                </a:rPr>
                <a:t>•English-language visibility correlates with high ratings</a:t>
              </a:r>
            </a:p>
            <a:p>
              <a:pPr algn="l">
                <a:lnSpc>
                  <a:spcPts val="2860"/>
                </a:lnSpc>
              </a:pPr>
              <a:r>
                <a:rPr lang="en-US" sz="2200">
                  <a:solidFill>
                    <a:srgbClr val="3E3126"/>
                  </a:solidFill>
                  <a:latin typeface="Raleway"/>
                  <a:ea typeface="Raleway"/>
                  <a:cs typeface="Raleway"/>
                  <a:sym typeface="Raleway"/>
                </a:rPr>
                <a:t>•Numeric features (e.g. max_price) are highly skewed</a:t>
              </a:r>
            </a:p>
            <a:p>
              <a:pPr algn="l" marL="0" indent="0" lvl="0">
                <a:lnSpc>
                  <a:spcPts val="2860"/>
                </a:lnSpc>
              </a:pPr>
            </a:p>
            <a:p>
              <a:pPr algn="l" marL="0" indent="0" lvl="0">
                <a:lnSpc>
                  <a:spcPts val="2860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7485343" y="9412274"/>
            <a:ext cx="152400" cy="2095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r" marL="0" indent="0" lvl="0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E3126"/>
                </a:solidFill>
                <a:latin typeface="Raleway"/>
                <a:ea typeface="Raleway"/>
                <a:cs typeface="Raleway"/>
                <a:sym typeface="Raleway"/>
              </a:rPr>
              <a:t>5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590221" y="2436291"/>
            <a:ext cx="7669079" cy="5414417"/>
            <a:chOff x="0" y="0"/>
            <a:chExt cx="1014975" cy="71657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14975" cy="716579"/>
            </a:xfrm>
            <a:custGeom>
              <a:avLst/>
              <a:gdLst/>
              <a:ahLst/>
              <a:cxnLst/>
              <a:rect r="r" b="b" t="t" l="l"/>
              <a:pathLst>
                <a:path h="716579" w="1014975">
                  <a:moveTo>
                    <a:pt x="0" y="0"/>
                  </a:moveTo>
                  <a:lnTo>
                    <a:pt x="1014975" y="0"/>
                  </a:lnTo>
                  <a:lnTo>
                    <a:pt x="1014975" y="716579"/>
                  </a:lnTo>
                  <a:lnTo>
                    <a:pt x="0" y="716579"/>
                  </a:lnTo>
                  <a:close/>
                </a:path>
              </a:pathLst>
            </a:custGeom>
            <a:blipFill>
              <a:blip r:embed="rId4"/>
              <a:stretch>
                <a:fillRect l="0" t="-5626" r="0" b="-5626"/>
              </a:stretch>
            </a:blip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1431704" y="6533697"/>
            <a:ext cx="6424123" cy="2634024"/>
            <a:chOff x="0" y="0"/>
            <a:chExt cx="1139688" cy="46729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39688" cy="467296"/>
            </a:xfrm>
            <a:custGeom>
              <a:avLst/>
              <a:gdLst/>
              <a:ahLst/>
              <a:cxnLst/>
              <a:rect r="r" b="b" t="t" l="l"/>
              <a:pathLst>
                <a:path h="467296" w="1139688">
                  <a:moveTo>
                    <a:pt x="0" y="0"/>
                  </a:moveTo>
                  <a:lnTo>
                    <a:pt x="1139688" y="0"/>
                  </a:lnTo>
                  <a:lnTo>
                    <a:pt x="1139688" y="467296"/>
                  </a:lnTo>
                  <a:lnTo>
                    <a:pt x="0" y="467296"/>
                  </a:lnTo>
                  <a:close/>
                </a:path>
              </a:pathLst>
            </a:custGeom>
            <a:blipFill>
              <a:blip r:embed="rId5"/>
              <a:stretch>
                <a:fillRect l="0" t="-17624" r="0" b="-17624"/>
              </a:stretch>
            </a:blip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431704" y="9610725"/>
            <a:ext cx="15624461" cy="0"/>
          </a:xfrm>
          <a:prstGeom prst="line">
            <a:avLst/>
          </a:prstGeom>
          <a:ln cap="flat" w="19050">
            <a:solidFill>
              <a:srgbClr val="3E312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671512" y="9387884"/>
            <a:ext cx="445682" cy="445682"/>
          </a:xfrm>
          <a:custGeom>
            <a:avLst/>
            <a:gdLst/>
            <a:ahLst/>
            <a:cxnLst/>
            <a:rect r="r" b="b" t="t" l="l"/>
            <a:pathLst>
              <a:path h="445682" w="445682">
                <a:moveTo>
                  <a:pt x="0" y="0"/>
                </a:moveTo>
                <a:lnTo>
                  <a:pt x="445683" y="0"/>
                </a:lnTo>
                <a:lnTo>
                  <a:pt x="445683" y="445682"/>
                </a:lnTo>
                <a:lnTo>
                  <a:pt x="0" y="4456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144000" y="2959141"/>
            <a:ext cx="7877319" cy="3432769"/>
          </a:xfrm>
          <a:custGeom>
            <a:avLst/>
            <a:gdLst/>
            <a:ahLst/>
            <a:cxnLst/>
            <a:rect r="r" b="b" t="t" l="l"/>
            <a:pathLst>
              <a:path h="3432769" w="7877319">
                <a:moveTo>
                  <a:pt x="0" y="0"/>
                </a:moveTo>
                <a:lnTo>
                  <a:pt x="7877319" y="0"/>
                </a:lnTo>
                <a:lnTo>
                  <a:pt x="7877319" y="3432769"/>
                </a:lnTo>
                <a:lnTo>
                  <a:pt x="0" y="34327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7932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666750" y="666750"/>
            <a:ext cx="13208441" cy="5771515"/>
            <a:chOff x="0" y="0"/>
            <a:chExt cx="17611255" cy="7695353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76200"/>
              <a:ext cx="17611255" cy="3429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900"/>
                </a:lnSpc>
              </a:pPr>
              <a:r>
                <a:rPr lang="en-US" sz="9000">
                  <a:solidFill>
                    <a:srgbClr val="3E3126"/>
                  </a:solidFill>
                  <a:latin typeface="Raleway"/>
                  <a:ea typeface="Raleway"/>
                  <a:cs typeface="Raleway"/>
                  <a:sym typeface="Raleway"/>
                </a:rPr>
                <a:t>D</a:t>
              </a:r>
              <a:r>
                <a:rPr lang="en-US" sz="9000">
                  <a:solidFill>
                    <a:srgbClr val="3E3126"/>
                  </a:solidFill>
                  <a:latin typeface="Raleway"/>
                  <a:ea typeface="Raleway"/>
                  <a:cs typeface="Raleway"/>
                  <a:sym typeface="Raleway"/>
                </a:rPr>
                <a:t>ata Imputation &amp; Outlier Control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3997325"/>
              <a:ext cx="17611255" cy="6762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200"/>
                </a:lnSpc>
              </a:pPr>
              <a:r>
                <a:rPr lang="en-US" sz="3000">
                  <a:solidFill>
                    <a:srgbClr val="7A6852"/>
                  </a:solidFill>
                  <a:latin typeface="Raleway"/>
                  <a:ea typeface="Raleway"/>
                  <a:cs typeface="Raleway"/>
                  <a:sym typeface="Raleway"/>
                </a:rPr>
                <a:t>Analyzing TripAdvisor Ratings for Success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5229225"/>
              <a:ext cx="17611255" cy="24661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0"/>
                </a:lnSpc>
              </a:pPr>
              <a:r>
                <a:rPr lang="en-US" sz="2300">
                  <a:solidFill>
                    <a:srgbClr val="3E3126"/>
                  </a:solidFill>
                  <a:latin typeface="Raleway"/>
                  <a:ea typeface="Raleway"/>
                  <a:cs typeface="Raleway"/>
                  <a:sym typeface="Raleway"/>
                </a:rPr>
                <a:t>•KNN imputation for operational metrics</a:t>
              </a:r>
            </a:p>
            <a:p>
              <a:pPr algn="l">
                <a:lnSpc>
                  <a:spcPts val="2990"/>
                </a:lnSpc>
              </a:pPr>
              <a:r>
                <a:rPr lang="en-US" sz="2300">
                  <a:solidFill>
                    <a:srgbClr val="3E3126"/>
                  </a:solidFill>
                  <a:latin typeface="Raleway"/>
                  <a:ea typeface="Raleway"/>
                  <a:cs typeface="Raleway"/>
                  <a:sym typeface="Raleway"/>
                </a:rPr>
                <a:t>•City/province medians for missing coordinates</a:t>
              </a:r>
            </a:p>
            <a:p>
              <a:pPr algn="l">
                <a:lnSpc>
                  <a:spcPts val="2990"/>
                </a:lnSpc>
              </a:pPr>
              <a:r>
                <a:rPr lang="en-US" sz="2300">
                  <a:solidFill>
                    <a:srgbClr val="3E3126"/>
                  </a:solidFill>
                  <a:latin typeface="Raleway"/>
                  <a:ea typeface="Raleway"/>
                  <a:cs typeface="Raleway"/>
                  <a:sym typeface="Raleway"/>
                </a:rPr>
                <a:t>•IQR capping (1.5× rule) for numeric outliers</a:t>
              </a:r>
            </a:p>
            <a:p>
              <a:pPr algn="l" marL="0" indent="0" lvl="0">
                <a:lnSpc>
                  <a:spcPts val="2990"/>
                </a:lnSpc>
              </a:pPr>
              <a:r>
                <a:rPr lang="en-US" sz="2300">
                  <a:solidFill>
                    <a:srgbClr val="3E3126"/>
                  </a:solidFill>
                  <a:latin typeface="Raleway"/>
                  <a:ea typeface="Raleway"/>
                  <a:cs typeface="Raleway"/>
                  <a:sym typeface="Raleway"/>
                </a:rPr>
                <a:t>•Result: complete, stable, and consistent dataset</a:t>
              </a:r>
            </a:p>
            <a:p>
              <a:pPr algn="l" marL="0" indent="0" lvl="0">
                <a:lnSpc>
                  <a:spcPts val="2990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7485343" y="9412274"/>
            <a:ext cx="152400" cy="2095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r" marL="0" indent="0" lvl="0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E3126"/>
                </a:solidFill>
                <a:latin typeface="Raleway"/>
                <a:ea typeface="Raleway"/>
                <a:cs typeface="Raleway"/>
                <a:sym typeface="Raleway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9D3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431704" y="9610725"/>
            <a:ext cx="15624461" cy="0"/>
          </a:xfrm>
          <a:prstGeom prst="line">
            <a:avLst/>
          </a:prstGeom>
          <a:ln cap="flat" w="19050">
            <a:solidFill>
              <a:srgbClr val="3E312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2105025" y="704850"/>
            <a:ext cx="14077950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225"/>
              </a:lnSpc>
            </a:pPr>
            <a:r>
              <a:rPr lang="en-US" sz="4750" strike="noStrike" u="none">
                <a:solidFill>
                  <a:srgbClr val="3E3126"/>
                </a:solidFill>
                <a:latin typeface="Raleway"/>
                <a:ea typeface="Raleway"/>
                <a:cs typeface="Raleway"/>
                <a:sym typeface="Raleway"/>
              </a:rPr>
              <a:t>Feature Engineering and Data Splitting Techniques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2105025" y="5453722"/>
            <a:ext cx="5448300" cy="2536512"/>
            <a:chOff x="0" y="0"/>
            <a:chExt cx="7264400" cy="3382016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19050"/>
              <a:ext cx="7264400" cy="5905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300"/>
                </a:lnSpc>
              </a:pPr>
              <a:r>
                <a:rPr lang="en-US" b="true" sz="3000" strike="noStrike" u="none">
                  <a:solidFill>
                    <a:srgbClr val="7A6852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Engineering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805398"/>
              <a:ext cx="7264400" cy="25766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080"/>
                </a:lnSpc>
              </a:pPr>
              <a:r>
                <a:rPr lang="en-US" sz="2200">
                  <a:solidFill>
                    <a:srgbClr val="3E3126"/>
                  </a:solidFill>
                  <a:latin typeface="Raleway"/>
                  <a:ea typeface="Raleway"/>
                  <a:cs typeface="Raleway"/>
                  <a:sym typeface="Raleway"/>
                </a:rPr>
                <a:t>This phase involved c</a:t>
              </a:r>
              <a:r>
                <a:rPr lang="en-US" sz="2200" strike="noStrike" u="none">
                  <a:solidFill>
                    <a:srgbClr val="3E3126"/>
                  </a:solidFill>
                  <a:latin typeface="Raleway"/>
                  <a:ea typeface="Raleway"/>
                  <a:cs typeface="Raleway"/>
                  <a:sym typeface="Raleway"/>
                </a:rPr>
                <a:t>reating new variables based on spatial location and business attributes</a:t>
              </a:r>
              <a:r>
                <a:rPr lang="en-US" sz="2200" strike="noStrike" u="none">
                  <a:solidFill>
                    <a:srgbClr val="3E3126"/>
                  </a:solidFill>
                  <a:latin typeface="Raleway"/>
                  <a:ea typeface="Raleway"/>
                  <a:cs typeface="Raleway"/>
                  <a:sym typeface="Raleway"/>
                </a:rPr>
                <a:t>, such as distance to city center, area popularity, and restaurant chain status for better predictive analysis.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733423" y="5453722"/>
            <a:ext cx="5448300" cy="974412"/>
            <a:chOff x="0" y="0"/>
            <a:chExt cx="7264400" cy="1299216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19050"/>
              <a:ext cx="7264400" cy="5905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300"/>
                </a:lnSpc>
              </a:pPr>
              <a:r>
                <a:rPr lang="en-US" b="true" sz="3000" strike="noStrike" u="none">
                  <a:solidFill>
                    <a:srgbClr val="7A6852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Splitting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805398"/>
              <a:ext cx="7264400" cy="4938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080"/>
                </a:lnSpc>
              </a:pPr>
              <a:r>
                <a:rPr lang="en-US" sz="2200" strike="noStrike" u="none">
                  <a:solidFill>
                    <a:srgbClr val="3E3126"/>
                  </a:solidFill>
                  <a:latin typeface="Raleway"/>
                  <a:ea typeface="Raleway"/>
                  <a:cs typeface="Raleway"/>
                  <a:sym typeface="Raleway"/>
                </a:rPr>
                <a:t>Dividing data into training and testing sets.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671512" y="9387884"/>
            <a:ext cx="445682" cy="445682"/>
          </a:xfrm>
          <a:custGeom>
            <a:avLst/>
            <a:gdLst/>
            <a:ahLst/>
            <a:cxnLst/>
            <a:rect r="r" b="b" t="t" l="l"/>
            <a:pathLst>
              <a:path h="445682" w="445682">
                <a:moveTo>
                  <a:pt x="0" y="0"/>
                </a:moveTo>
                <a:lnTo>
                  <a:pt x="445683" y="0"/>
                </a:lnTo>
                <a:lnTo>
                  <a:pt x="445683" y="445682"/>
                </a:lnTo>
                <a:lnTo>
                  <a:pt x="0" y="4456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7359380" y="9412274"/>
            <a:ext cx="152400" cy="2095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r" marL="0" indent="0" lvl="0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E3126"/>
                </a:solidFill>
                <a:latin typeface="Raleway"/>
                <a:ea typeface="Raleway"/>
                <a:cs typeface="Raleway"/>
                <a:sym typeface="Raleway"/>
              </a:rPr>
              <a:t>7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666750" y="2457450"/>
            <a:ext cx="8477250" cy="2686050"/>
            <a:chOff x="0" y="0"/>
            <a:chExt cx="1137409" cy="36039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37409" cy="360392"/>
            </a:xfrm>
            <a:custGeom>
              <a:avLst/>
              <a:gdLst/>
              <a:ahLst/>
              <a:cxnLst/>
              <a:rect r="r" b="b" t="t" l="l"/>
              <a:pathLst>
                <a:path h="360392" w="1137409">
                  <a:moveTo>
                    <a:pt x="0" y="0"/>
                  </a:moveTo>
                  <a:lnTo>
                    <a:pt x="1137409" y="0"/>
                  </a:lnTo>
                  <a:lnTo>
                    <a:pt x="1137409" y="360392"/>
                  </a:lnTo>
                  <a:lnTo>
                    <a:pt x="0" y="360392"/>
                  </a:lnTo>
                  <a:close/>
                </a:path>
              </a:pathLst>
            </a:custGeom>
            <a:blipFill>
              <a:blip r:embed="rId4"/>
              <a:stretch>
                <a:fillRect l="0" t="-34621" r="0" b="-34621"/>
              </a:stretch>
            </a:blip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9296400" y="2457450"/>
            <a:ext cx="8322347" cy="2686050"/>
            <a:chOff x="0" y="0"/>
            <a:chExt cx="1116625" cy="36039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16625" cy="360392"/>
            </a:xfrm>
            <a:custGeom>
              <a:avLst/>
              <a:gdLst/>
              <a:ahLst/>
              <a:cxnLst/>
              <a:rect r="r" b="b" t="t" l="l"/>
              <a:pathLst>
                <a:path h="360392" w="1116625">
                  <a:moveTo>
                    <a:pt x="0" y="0"/>
                  </a:moveTo>
                  <a:lnTo>
                    <a:pt x="1116625" y="0"/>
                  </a:lnTo>
                  <a:lnTo>
                    <a:pt x="1116625" y="360392"/>
                  </a:lnTo>
                  <a:lnTo>
                    <a:pt x="0" y="360392"/>
                  </a:lnTo>
                  <a:close/>
                </a:path>
              </a:pathLst>
            </a:custGeom>
            <a:blipFill>
              <a:blip r:embed="rId5"/>
              <a:stretch>
                <a:fillRect l="0" t="-33074" r="0" b="-33074"/>
              </a:stretch>
            </a:blip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431704" y="9610725"/>
            <a:ext cx="15624461" cy="0"/>
          </a:xfrm>
          <a:prstGeom prst="line">
            <a:avLst/>
          </a:prstGeom>
          <a:ln cap="flat" w="19050">
            <a:solidFill>
              <a:srgbClr val="3E312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671512" y="9387884"/>
            <a:ext cx="445682" cy="445682"/>
          </a:xfrm>
          <a:custGeom>
            <a:avLst/>
            <a:gdLst/>
            <a:ahLst/>
            <a:cxnLst/>
            <a:rect r="r" b="b" t="t" l="l"/>
            <a:pathLst>
              <a:path h="445682" w="445682">
                <a:moveTo>
                  <a:pt x="0" y="0"/>
                </a:moveTo>
                <a:lnTo>
                  <a:pt x="445683" y="0"/>
                </a:lnTo>
                <a:lnTo>
                  <a:pt x="445683" y="445682"/>
                </a:lnTo>
                <a:lnTo>
                  <a:pt x="0" y="4456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666750" y="666750"/>
            <a:ext cx="13208441" cy="5771515"/>
            <a:chOff x="0" y="0"/>
            <a:chExt cx="17611255" cy="7695353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76200"/>
              <a:ext cx="17611255" cy="3429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900"/>
                </a:lnSpc>
              </a:pPr>
              <a:r>
                <a:rPr lang="en-US" sz="9000">
                  <a:solidFill>
                    <a:srgbClr val="3E3126"/>
                  </a:solidFill>
                  <a:latin typeface="Raleway"/>
                  <a:ea typeface="Raleway"/>
                  <a:cs typeface="Raleway"/>
                  <a:sym typeface="Raleway"/>
                </a:rPr>
                <a:t>Modeling &amp; Feature Selection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3997325"/>
              <a:ext cx="17611255" cy="6762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200"/>
                </a:lnSpc>
              </a:pPr>
              <a:r>
                <a:rPr lang="en-US" sz="3000">
                  <a:solidFill>
                    <a:srgbClr val="7A6852"/>
                  </a:solidFill>
                  <a:latin typeface="Raleway"/>
                  <a:ea typeface="Raleway"/>
                  <a:cs typeface="Raleway"/>
                  <a:sym typeface="Raleway"/>
                </a:rPr>
                <a:t>Evaluating Models for Restaurant Success Prediction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5229225"/>
              <a:ext cx="17611255" cy="24661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0"/>
                </a:lnSpc>
              </a:pPr>
              <a:r>
                <a:rPr lang="en-US" sz="2300">
                  <a:solidFill>
                    <a:srgbClr val="3E3126"/>
                  </a:solidFill>
                  <a:latin typeface="Raleway"/>
                  <a:ea typeface="Raleway"/>
                  <a:cs typeface="Raleway"/>
                  <a:sym typeface="Raleway"/>
                </a:rPr>
                <a:t>•P</a:t>
              </a:r>
              <a:r>
                <a:rPr lang="en-US" sz="2300">
                  <a:solidFill>
                    <a:srgbClr val="3E3126"/>
                  </a:solidFill>
                  <a:latin typeface="Raleway"/>
                  <a:ea typeface="Raleway"/>
                  <a:cs typeface="Raleway"/>
                  <a:sym typeface="Raleway"/>
                </a:rPr>
                <a:t>ipeline: Prepro</a:t>
              </a:r>
              <a:r>
                <a:rPr lang="en-US" sz="2300">
                  <a:solidFill>
                    <a:srgbClr val="3E3126"/>
                  </a:solidFill>
                  <a:latin typeface="Raleway"/>
                  <a:ea typeface="Raleway"/>
                  <a:cs typeface="Raleway"/>
                  <a:sym typeface="Raleway"/>
                </a:rPr>
                <a:t>c</a:t>
              </a:r>
              <a:r>
                <a:rPr lang="en-US" sz="2300">
                  <a:solidFill>
                    <a:srgbClr val="3E3126"/>
                  </a:solidFill>
                  <a:latin typeface="Raleway"/>
                  <a:ea typeface="Raleway"/>
                  <a:cs typeface="Raleway"/>
                  <a:sym typeface="Raleway"/>
                </a:rPr>
                <a:t>ess</a:t>
              </a:r>
              <a:r>
                <a:rPr lang="en-US" sz="2300">
                  <a:solidFill>
                    <a:srgbClr val="3E3126"/>
                  </a:solidFill>
                  <a:latin typeface="Raleway"/>
                  <a:ea typeface="Raleway"/>
                  <a:cs typeface="Raleway"/>
                  <a:sym typeface="Raleway"/>
                </a:rPr>
                <a:t>in</a:t>
              </a:r>
              <a:r>
                <a:rPr lang="en-US" sz="2300">
                  <a:solidFill>
                    <a:srgbClr val="3E3126"/>
                  </a:solidFill>
                  <a:latin typeface="Raleway"/>
                  <a:ea typeface="Raleway"/>
                  <a:cs typeface="Raleway"/>
                  <a:sym typeface="Raleway"/>
                </a:rPr>
                <a:t>g →</a:t>
              </a:r>
              <a:r>
                <a:rPr lang="en-US" sz="2300">
                  <a:solidFill>
                    <a:srgbClr val="3E3126"/>
                  </a:solidFill>
                  <a:latin typeface="Raleway"/>
                  <a:ea typeface="Raleway"/>
                  <a:cs typeface="Raleway"/>
                  <a:sym typeface="Raleway"/>
                </a:rPr>
                <a:t> </a:t>
              </a:r>
              <a:r>
                <a:rPr lang="en-US" sz="2300">
                  <a:solidFill>
                    <a:srgbClr val="3E3126"/>
                  </a:solidFill>
                  <a:latin typeface="Raleway"/>
                  <a:ea typeface="Raleway"/>
                  <a:cs typeface="Raleway"/>
                  <a:sym typeface="Raleway"/>
                </a:rPr>
                <a:t>V</a:t>
              </a:r>
              <a:r>
                <a:rPr lang="en-US" sz="2300">
                  <a:solidFill>
                    <a:srgbClr val="3E3126"/>
                  </a:solidFill>
                  <a:latin typeface="Raleway"/>
                  <a:ea typeface="Raleway"/>
                  <a:cs typeface="Raleway"/>
                  <a:sym typeface="Raleway"/>
                </a:rPr>
                <a:t>ari</a:t>
              </a:r>
              <a:r>
                <a:rPr lang="en-US" sz="2300">
                  <a:solidFill>
                    <a:srgbClr val="3E3126"/>
                  </a:solidFill>
                  <a:latin typeface="Raleway"/>
                  <a:ea typeface="Raleway"/>
                  <a:cs typeface="Raleway"/>
                  <a:sym typeface="Raleway"/>
                </a:rPr>
                <a:t>a</a:t>
              </a:r>
              <a:r>
                <a:rPr lang="en-US" sz="2300">
                  <a:solidFill>
                    <a:srgbClr val="3E3126"/>
                  </a:solidFill>
                  <a:latin typeface="Raleway"/>
                  <a:ea typeface="Raleway"/>
                  <a:cs typeface="Raleway"/>
                  <a:sym typeface="Raleway"/>
                </a:rPr>
                <a:t>n</a:t>
              </a:r>
              <a:r>
                <a:rPr lang="en-US" sz="2300">
                  <a:solidFill>
                    <a:srgbClr val="3E3126"/>
                  </a:solidFill>
                  <a:latin typeface="Raleway"/>
                  <a:ea typeface="Raleway"/>
                  <a:cs typeface="Raleway"/>
                  <a:sym typeface="Raleway"/>
                </a:rPr>
                <a:t>c</a:t>
              </a:r>
              <a:r>
                <a:rPr lang="en-US" sz="2300">
                  <a:solidFill>
                    <a:srgbClr val="3E3126"/>
                  </a:solidFill>
                  <a:latin typeface="Raleway"/>
                  <a:ea typeface="Raleway"/>
                  <a:cs typeface="Raleway"/>
                  <a:sym typeface="Raleway"/>
                </a:rPr>
                <a:t>e</a:t>
              </a:r>
              <a:r>
                <a:rPr lang="en-US" sz="2300">
                  <a:solidFill>
                    <a:srgbClr val="3E3126"/>
                  </a:solidFill>
                  <a:latin typeface="Raleway"/>
                  <a:ea typeface="Raleway"/>
                  <a:cs typeface="Raleway"/>
                  <a:sym typeface="Raleway"/>
                </a:rPr>
                <a:t>Thr</a:t>
              </a:r>
              <a:r>
                <a:rPr lang="en-US" sz="2300">
                  <a:solidFill>
                    <a:srgbClr val="3E3126"/>
                  </a:solidFill>
                  <a:latin typeface="Raleway"/>
                  <a:ea typeface="Raleway"/>
                  <a:cs typeface="Raleway"/>
                  <a:sym typeface="Raleway"/>
                </a:rPr>
                <a:t>e</a:t>
              </a:r>
              <a:r>
                <a:rPr lang="en-US" sz="2300">
                  <a:solidFill>
                    <a:srgbClr val="3E3126"/>
                  </a:solidFill>
                  <a:latin typeface="Raleway"/>
                  <a:ea typeface="Raleway"/>
                  <a:cs typeface="Raleway"/>
                  <a:sym typeface="Raleway"/>
                </a:rPr>
                <a:t>shold → SelectKBest → SMOTE → Classifier</a:t>
              </a:r>
            </a:p>
            <a:p>
              <a:pPr algn="l" marL="0" indent="0" lvl="0">
                <a:lnSpc>
                  <a:spcPts val="2990"/>
                </a:lnSpc>
              </a:pPr>
              <a:r>
                <a:rPr lang="en-US" sz="2300">
                  <a:solidFill>
                    <a:srgbClr val="3E3126"/>
                  </a:solidFill>
                  <a:latin typeface="Raleway"/>
                  <a:ea typeface="Raleway"/>
                  <a:cs typeface="Raleway"/>
                  <a:sym typeface="Raleway"/>
                </a:rPr>
                <a:t>•Models tested: Logistic Regression, Random Forest, XGB, LinearSVM, Decision Tree, AdaBoost, GBM</a:t>
              </a:r>
            </a:p>
            <a:p>
              <a:pPr algn="l" marL="0" indent="0" lvl="0">
                <a:lnSpc>
                  <a:spcPts val="2990"/>
                </a:lnSpc>
              </a:pPr>
              <a:r>
                <a:rPr lang="en-US" sz="2300">
                  <a:solidFill>
                    <a:srgbClr val="3E3126"/>
                  </a:solidFill>
                  <a:latin typeface="Raleway"/>
                  <a:ea typeface="Raleway"/>
                  <a:cs typeface="Raleway"/>
                  <a:sym typeface="Raleway"/>
                </a:rPr>
                <a:t>•Evaluation: ROC-AUC, F1, Precision, Recall, Accuracy, Log Loss</a:t>
              </a:r>
            </a:p>
            <a:p>
              <a:pPr algn="l" marL="0" indent="0" lvl="0">
                <a:lnSpc>
                  <a:spcPts val="2990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7485343" y="9412274"/>
            <a:ext cx="152400" cy="2095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r" marL="0" indent="0" lvl="0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E3126"/>
                </a:solidFill>
                <a:latin typeface="Raleway"/>
                <a:ea typeface="Raleway"/>
                <a:cs typeface="Raleway"/>
                <a:sym typeface="Raleway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431704" y="9610725"/>
            <a:ext cx="15624461" cy="0"/>
          </a:xfrm>
          <a:prstGeom prst="line">
            <a:avLst/>
          </a:prstGeom>
          <a:ln cap="flat" w="19050">
            <a:solidFill>
              <a:srgbClr val="3E312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671512" y="9387884"/>
            <a:ext cx="445682" cy="445682"/>
          </a:xfrm>
          <a:custGeom>
            <a:avLst/>
            <a:gdLst/>
            <a:ahLst/>
            <a:cxnLst/>
            <a:rect r="r" b="b" t="t" l="l"/>
            <a:pathLst>
              <a:path h="445682" w="445682">
                <a:moveTo>
                  <a:pt x="0" y="0"/>
                </a:moveTo>
                <a:lnTo>
                  <a:pt x="445683" y="0"/>
                </a:lnTo>
                <a:lnTo>
                  <a:pt x="445683" y="445682"/>
                </a:lnTo>
                <a:lnTo>
                  <a:pt x="0" y="4456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144000" y="3835029"/>
            <a:ext cx="7576020" cy="5423271"/>
          </a:xfrm>
          <a:custGeom>
            <a:avLst/>
            <a:gdLst/>
            <a:ahLst/>
            <a:cxnLst/>
            <a:rect r="r" b="b" t="t" l="l"/>
            <a:pathLst>
              <a:path h="5423271" w="7576020">
                <a:moveTo>
                  <a:pt x="0" y="0"/>
                </a:moveTo>
                <a:lnTo>
                  <a:pt x="7576020" y="0"/>
                </a:lnTo>
                <a:lnTo>
                  <a:pt x="7576020" y="5423271"/>
                </a:lnTo>
                <a:lnTo>
                  <a:pt x="0" y="54232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71513" y="7081804"/>
            <a:ext cx="6671251" cy="2176496"/>
          </a:xfrm>
          <a:custGeom>
            <a:avLst/>
            <a:gdLst/>
            <a:ahLst/>
            <a:cxnLst/>
            <a:rect r="r" b="b" t="t" l="l"/>
            <a:pathLst>
              <a:path h="2176496" w="6671251">
                <a:moveTo>
                  <a:pt x="0" y="0"/>
                </a:moveTo>
                <a:lnTo>
                  <a:pt x="6671251" y="0"/>
                </a:lnTo>
                <a:lnTo>
                  <a:pt x="6671251" y="2176496"/>
                </a:lnTo>
                <a:lnTo>
                  <a:pt x="0" y="217649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666750" y="666750"/>
            <a:ext cx="13208441" cy="7114540"/>
            <a:chOff x="0" y="0"/>
            <a:chExt cx="17611255" cy="9486053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76200"/>
              <a:ext cx="17611255" cy="1752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900"/>
                </a:lnSpc>
              </a:pPr>
              <a:r>
                <a:rPr lang="en-US" sz="9000">
                  <a:solidFill>
                    <a:srgbClr val="3E3126"/>
                  </a:solidFill>
                  <a:latin typeface="Raleway"/>
                  <a:ea typeface="Raleway"/>
                  <a:cs typeface="Raleway"/>
                  <a:sym typeface="Raleway"/>
                </a:rPr>
                <a:t>Resu</a:t>
              </a:r>
              <a:r>
                <a:rPr lang="en-US" sz="9000">
                  <a:solidFill>
                    <a:srgbClr val="3E3126"/>
                  </a:solidFill>
                  <a:latin typeface="Raleway"/>
                  <a:ea typeface="Raleway"/>
                  <a:cs typeface="Raleway"/>
                  <a:sym typeface="Raleway"/>
                </a:rPr>
                <a:t>lts &amp; Key Insights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2320925"/>
              <a:ext cx="17611255" cy="6762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200"/>
                </a:lnSpc>
              </a:pPr>
              <a:r>
                <a:rPr lang="en-US" sz="3000">
                  <a:solidFill>
                    <a:srgbClr val="7A6852"/>
                  </a:solidFill>
                  <a:latin typeface="Raleway"/>
                  <a:ea typeface="Raleway"/>
                  <a:cs typeface="Raleway"/>
                  <a:sym typeface="Raleway"/>
                </a:rPr>
                <a:t>Insights on Success Factors in Italy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3552825"/>
              <a:ext cx="17611255" cy="59332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0"/>
                </a:lnSpc>
              </a:pPr>
              <a:r>
                <a:rPr lang="en-US" sz="2300">
                  <a:solidFill>
                    <a:srgbClr val="3E3126"/>
                  </a:solidFill>
                  <a:latin typeface="Raleway"/>
                  <a:ea typeface="Raleway"/>
                  <a:cs typeface="Raleway"/>
                  <a:sym typeface="Raleway"/>
                </a:rPr>
                <a:t>•Top driv</a:t>
              </a:r>
              <a:r>
                <a:rPr lang="en-US" sz="2300">
                  <a:solidFill>
                    <a:srgbClr val="3E3126"/>
                  </a:solidFill>
                  <a:latin typeface="Raleway"/>
                  <a:ea typeface="Raleway"/>
                  <a:cs typeface="Raleway"/>
                  <a:sym typeface="Raleway"/>
                </a:rPr>
                <a:t>ers of success:</a:t>
              </a:r>
            </a:p>
            <a:p>
              <a:pPr algn="l" marL="0" indent="0" lvl="0">
                <a:lnSpc>
                  <a:spcPts val="2990"/>
                </a:lnSpc>
              </a:pPr>
              <a:r>
                <a:rPr lang="en-US" sz="2300">
                  <a:solidFill>
                    <a:srgbClr val="3E3126"/>
                  </a:solidFill>
                  <a:latin typeface="Raleway"/>
                  <a:ea typeface="Raleway"/>
                  <a:cs typeface="Raleway"/>
                  <a:sym typeface="Raleway"/>
                </a:rPr>
                <a:t>•Centra</a:t>
              </a:r>
              <a:r>
                <a:rPr lang="en-US" sz="2300">
                  <a:solidFill>
                    <a:srgbClr val="3E3126"/>
                  </a:solidFill>
                  <a:latin typeface="Raleway"/>
                  <a:ea typeface="Raleway"/>
                  <a:cs typeface="Raleway"/>
                  <a:sym typeface="Raleway"/>
                </a:rPr>
                <a:t>l loca</a:t>
              </a:r>
              <a:r>
                <a:rPr lang="en-US" sz="2300">
                  <a:solidFill>
                    <a:srgbClr val="3E3126"/>
                  </a:solidFill>
                  <a:latin typeface="Raleway"/>
                  <a:ea typeface="Raleway"/>
                  <a:cs typeface="Raleway"/>
                  <a:sym typeface="Raleway"/>
                </a:rPr>
                <a:t>tion &amp; dense areas</a:t>
              </a:r>
            </a:p>
            <a:p>
              <a:pPr algn="l" marL="0" indent="0" lvl="0">
                <a:lnSpc>
                  <a:spcPts val="2990"/>
                </a:lnSpc>
              </a:pPr>
              <a:r>
                <a:rPr lang="en-US" sz="2300">
                  <a:solidFill>
                    <a:srgbClr val="3E3126"/>
                  </a:solidFill>
                  <a:latin typeface="Raleway"/>
                  <a:ea typeface="Raleway"/>
                  <a:cs typeface="Raleway"/>
                  <a:sym typeface="Raleway"/>
                </a:rPr>
                <a:t>•English-language visibilit</a:t>
              </a:r>
              <a:r>
                <a:rPr lang="en-US" sz="2300">
                  <a:solidFill>
                    <a:srgbClr val="3E3126"/>
                  </a:solidFill>
                  <a:latin typeface="Raleway"/>
                  <a:ea typeface="Raleway"/>
                  <a:cs typeface="Raleway"/>
                  <a:sym typeface="Raleway"/>
                </a:rPr>
                <a:t>y</a:t>
              </a:r>
            </a:p>
            <a:p>
              <a:pPr algn="l" marL="0" indent="0" lvl="0">
                <a:lnSpc>
                  <a:spcPts val="2990"/>
                </a:lnSpc>
              </a:pPr>
              <a:r>
                <a:rPr lang="en-US" sz="2300">
                  <a:solidFill>
                    <a:srgbClr val="3E3126"/>
                  </a:solidFill>
                  <a:latin typeface="Raleway"/>
                  <a:ea typeface="Raleway"/>
                  <a:cs typeface="Raleway"/>
                  <a:sym typeface="Raleway"/>
                </a:rPr>
                <a:t>•</a:t>
              </a:r>
              <a:r>
                <a:rPr lang="en-US" sz="2300">
                  <a:solidFill>
                    <a:srgbClr val="3E3126"/>
                  </a:solidFill>
                  <a:latin typeface="Raleway"/>
                  <a:ea typeface="Raleway"/>
                  <a:cs typeface="Raleway"/>
                  <a:sym typeface="Raleway"/>
                </a:rPr>
                <a:t>Inclusivity (vegan, gluten-free, vegetarian)</a:t>
              </a:r>
            </a:p>
            <a:p>
              <a:pPr algn="l" marL="0" indent="0" lvl="0">
                <a:lnSpc>
                  <a:spcPts val="2990"/>
                </a:lnSpc>
              </a:pPr>
              <a:r>
                <a:rPr lang="en-US" sz="2300">
                  <a:solidFill>
                    <a:srgbClr val="3E3126"/>
                  </a:solidFill>
                  <a:latin typeface="Raleway"/>
                  <a:ea typeface="Raleway"/>
                  <a:cs typeface="Raleway"/>
                  <a:sym typeface="Raleway"/>
                </a:rPr>
                <a:t>•Michelin prestige &amp; winning awards</a:t>
              </a:r>
            </a:p>
            <a:p>
              <a:pPr algn="l" marL="0" indent="0" lvl="0">
                <a:lnSpc>
                  <a:spcPts val="2990"/>
                </a:lnSpc>
              </a:pPr>
              <a:r>
                <a:rPr lang="en-US" sz="2300">
                  <a:solidFill>
                    <a:srgbClr val="3E3126"/>
                  </a:solidFill>
                  <a:latin typeface="Raleway"/>
                  <a:ea typeface="Raleway"/>
                  <a:cs typeface="Raleway"/>
                  <a:sym typeface="Raleway"/>
                </a:rPr>
                <a:t>•XGBoost was top performer</a:t>
              </a:r>
            </a:p>
            <a:p>
              <a:pPr algn="l" marL="0" indent="0" lvl="0">
                <a:lnSpc>
                  <a:spcPts val="2990"/>
                </a:lnSpc>
              </a:pPr>
              <a:r>
                <a:rPr lang="en-US" sz="2300">
                  <a:solidFill>
                    <a:srgbClr val="3E3126"/>
                  </a:solidFill>
                  <a:latin typeface="Raleway"/>
                  <a:ea typeface="Raleway"/>
                  <a:cs typeface="Raleway"/>
                  <a:sym typeface="Raleway"/>
                </a:rPr>
                <a:t>•Final results after Tuning: </a:t>
              </a:r>
            </a:p>
            <a:p>
              <a:pPr algn="l" marL="0" indent="0" lvl="0">
                <a:lnSpc>
                  <a:spcPts val="2990"/>
                </a:lnSpc>
              </a:pPr>
              <a:r>
                <a:rPr lang="en-US" sz="2300">
                  <a:solidFill>
                    <a:srgbClr val="3E3126"/>
                  </a:solidFill>
                  <a:latin typeface="Raleway"/>
                  <a:ea typeface="Raleway"/>
                  <a:cs typeface="Raleway"/>
                  <a:sym typeface="Raleway"/>
                </a:rPr>
                <a:t>Accuracy: 0.9483, Precision: 0.7107, Recall: 0.6811,  F1: 0.6956,</a:t>
              </a:r>
            </a:p>
            <a:p>
              <a:pPr algn="l" marL="0" indent="0" lvl="0">
                <a:lnSpc>
                  <a:spcPts val="2990"/>
                </a:lnSpc>
              </a:pPr>
              <a:r>
                <a:rPr lang="en-US" sz="2300">
                  <a:solidFill>
                    <a:srgbClr val="3E3126"/>
                  </a:solidFill>
                  <a:latin typeface="Raleway"/>
                  <a:ea typeface="Raleway"/>
                  <a:cs typeface="Raleway"/>
                  <a:sym typeface="Raleway"/>
                </a:rPr>
                <a:t>ROC AUC: 0.972</a:t>
              </a:r>
            </a:p>
            <a:p>
              <a:pPr algn="l" marL="0" indent="0" lvl="0">
                <a:lnSpc>
                  <a:spcPts val="2990"/>
                </a:lnSpc>
              </a:pPr>
            </a:p>
            <a:p>
              <a:pPr algn="l" marL="0" indent="0" lvl="0">
                <a:lnSpc>
                  <a:spcPts val="2990"/>
                </a:lnSpc>
              </a:pPr>
            </a:p>
            <a:p>
              <a:pPr algn="l" marL="0" indent="0" lvl="0">
                <a:lnSpc>
                  <a:spcPts val="2990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7485343" y="9412274"/>
            <a:ext cx="152400" cy="2095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r" marL="0" indent="0" lvl="0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E3126"/>
                </a:solidFill>
                <a:latin typeface="Raleway"/>
                <a:ea typeface="Raleway"/>
                <a:cs typeface="Raleway"/>
                <a:sym typeface="Raleway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9D3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1638300"/>
            <a:ext cx="7191375" cy="381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900"/>
              </a:lnSpc>
            </a:pPr>
            <a:r>
              <a:rPr lang="en-US" sz="9000" strike="noStrike" u="none">
                <a:solidFill>
                  <a:srgbClr val="3E3126"/>
                </a:solidFill>
                <a:latin typeface="Raleway"/>
                <a:ea typeface="Raleway"/>
                <a:cs typeface="Raleway"/>
                <a:sym typeface="Raleway"/>
              </a:rPr>
              <a:t>Thank you for your attention!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9174568"/>
            <a:ext cx="5484580" cy="445682"/>
            <a:chOff x="0" y="0"/>
            <a:chExt cx="7312773" cy="594243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950031" y="56880"/>
              <a:ext cx="6362742" cy="4900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750"/>
                </a:lnSpc>
              </a:pPr>
              <a:r>
                <a:rPr lang="en-US" sz="2500">
                  <a:solidFill>
                    <a:srgbClr val="3E3126"/>
                  </a:solidFill>
                  <a:latin typeface="Raleway"/>
                  <a:ea typeface="Raleway"/>
                  <a:cs typeface="Raleway"/>
                  <a:sym typeface="Raleway"/>
                </a:rPr>
                <a:t>Data Insights Co.</a:t>
              </a:r>
            </a:p>
          </p:txBody>
        </p:sp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94243" cy="594243"/>
            </a:xfrm>
            <a:custGeom>
              <a:avLst/>
              <a:gdLst/>
              <a:ahLst/>
              <a:cxnLst/>
              <a:rect r="r" b="b" t="t" l="l"/>
              <a:pathLst>
                <a:path h="594243" w="594243">
                  <a:moveTo>
                    <a:pt x="0" y="0"/>
                  </a:moveTo>
                  <a:lnTo>
                    <a:pt x="594243" y="0"/>
                  </a:lnTo>
                  <a:lnTo>
                    <a:pt x="594243" y="594243"/>
                  </a:lnTo>
                  <a:lnTo>
                    <a:pt x="0" y="5942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8646914" y="1562100"/>
            <a:ext cx="8316542" cy="6864190"/>
            <a:chOff x="0" y="0"/>
            <a:chExt cx="1292115" cy="106646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92115" cy="1066467"/>
            </a:xfrm>
            <a:custGeom>
              <a:avLst/>
              <a:gdLst/>
              <a:ahLst/>
              <a:cxnLst/>
              <a:rect r="r" b="b" t="t" l="l"/>
              <a:pathLst>
                <a:path h="1066467" w="1292115">
                  <a:moveTo>
                    <a:pt x="0" y="0"/>
                  </a:moveTo>
                  <a:lnTo>
                    <a:pt x="1292115" y="0"/>
                  </a:lnTo>
                  <a:lnTo>
                    <a:pt x="1292115" y="1066467"/>
                  </a:lnTo>
                  <a:lnTo>
                    <a:pt x="0" y="1066467"/>
                  </a:lnTo>
                  <a:close/>
                </a:path>
              </a:pathLst>
            </a:custGeom>
            <a:blipFill>
              <a:blip r:embed="rId4"/>
              <a:stretch>
                <a:fillRect l="-174" t="0" r="-174" b="0"/>
              </a:stretch>
            </a:blip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Presentation - Machine Learning on TripAdvisor Data</dc:description>
  <dc:identifier>DAG4VQ26s_w</dc:identifier>
  <dcterms:modified xsi:type="dcterms:W3CDTF">2011-08-01T06:04:30Z</dcterms:modified>
  <cp:revision>1</cp:revision>
  <dc:title>Presentation - Machine Learning on TripAdvisor Data</dc:title>
</cp:coreProperties>
</file>